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Arial" charset="1" panose="020B0604020202020204"/>
      <p:regular r:id="rId23"/>
    </p:embeddedFont>
    <p:embeddedFont>
      <p:font typeface="Arial Bold" charset="1" panose="020B0704020202020204"/>
      <p:regular r:id="rId24"/>
    </p:embeddedFont>
    <p:embeddedFont>
      <p:font typeface="Times New Roman Bold" charset="1" panose="020208030705050203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jpe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1.jpeg" Type="http://schemas.openxmlformats.org/officeDocument/2006/relationships/image"/><Relationship Id="rId8"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1.jpeg" Type="http://schemas.openxmlformats.org/officeDocument/2006/relationships/image"/><Relationship Id="rId8"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jpeg" Type="http://schemas.openxmlformats.org/officeDocument/2006/relationships/image"/><Relationship Id="rId8" Target="../media/image12.png" Type="http://schemas.openxmlformats.org/officeDocument/2006/relationships/image"/><Relationship Id="rId9"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1.jpeg" Type="http://schemas.openxmlformats.org/officeDocument/2006/relationships/image"/><Relationship Id="rId8" Target="../media/image6.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jpeg" Type="http://schemas.openxmlformats.org/officeDocument/2006/relationships/image"/><Relationship Id="rId8" Target="../media/image14.png" Type="http://schemas.openxmlformats.org/officeDocument/2006/relationships/image"/><Relationship Id="rId9"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jpe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jpeg" Type="http://schemas.openxmlformats.org/officeDocument/2006/relationships/image"/><Relationship Id="rId8"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1.jpeg" Type="http://schemas.openxmlformats.org/officeDocument/2006/relationships/image"/><Relationship Id="rId8" Target="../media/image6.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jpeg" Type="http://schemas.openxmlformats.org/officeDocument/2006/relationships/image"/><Relationship Id="rId8" Target="https://github.com/lowRISC/ibex?tab=readme-ov-file" TargetMode="External" Type="http://schemas.openxmlformats.org/officeDocument/2006/relationships/hyperlink"/><Relationship Id="rId9" Target="https://github.com/lowRISC/ibex?tab=readme-ov-file" TargetMode="External" Type="http://schemas.openxmlformats.org/officeDocument/2006/relationships/hyperlink"/></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1.jpeg" Type="http://schemas.openxmlformats.org/officeDocument/2006/relationships/image"/><Relationship Id="rId8" Target="../media/image6.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name="Group 3" id="3"/>
          <p:cNvGrpSpPr/>
          <p:nvPr/>
        </p:nvGrpSpPr>
        <p:grpSpPr>
          <a:xfrm rot="0">
            <a:off x="0" y="2124"/>
            <a:ext cx="18291715" cy="10295487"/>
            <a:chOff x="0" y="0"/>
            <a:chExt cx="24388953" cy="13727316"/>
          </a:xfrm>
        </p:grpSpPr>
        <p:sp>
          <p:nvSpPr>
            <p:cNvPr name="Freeform 4" id="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5" id="5"/>
          <p:cNvGrpSpPr/>
          <p:nvPr/>
        </p:nvGrpSpPr>
        <p:grpSpPr>
          <a:xfrm rot="0">
            <a:off x="-36214" y="0"/>
            <a:ext cx="950614" cy="10287000"/>
            <a:chOff x="0" y="0"/>
            <a:chExt cx="1267485" cy="13716000"/>
          </a:xfrm>
        </p:grpSpPr>
        <p:sp>
          <p:nvSpPr>
            <p:cNvPr name="Freeform 6" id="6"/>
            <p:cNvSpPr/>
            <p:nvPr/>
          </p:nvSpPr>
          <p:spPr>
            <a:xfrm flipH="false" flipV="false" rot="0">
              <a:off x="0" y="0"/>
              <a:ext cx="1267460" cy="13716000"/>
            </a:xfrm>
            <a:custGeom>
              <a:avLst/>
              <a:gdLst/>
              <a:ahLst/>
              <a:cxnLst/>
              <a:rect r="r" b="b" t="t" l="l"/>
              <a:pathLst>
                <a:path h="13716000" w="1267460">
                  <a:moveTo>
                    <a:pt x="0" y="0"/>
                  </a:moveTo>
                  <a:lnTo>
                    <a:pt x="1267460" y="0"/>
                  </a:lnTo>
                  <a:lnTo>
                    <a:pt x="1267460" y="13716000"/>
                  </a:lnTo>
                  <a:lnTo>
                    <a:pt x="0" y="13716000"/>
                  </a:lnTo>
                  <a:close/>
                </a:path>
              </a:pathLst>
            </a:custGeom>
            <a:gradFill rotWithShape="true">
              <a:gsLst>
                <a:gs pos="0">
                  <a:srgbClr val="10CD57">
                    <a:alpha val="100000"/>
                  </a:srgbClr>
                </a:gs>
                <a:gs pos="100000">
                  <a:srgbClr val="027159">
                    <a:alpha val="100000"/>
                  </a:srgbClr>
                </a:gs>
              </a:gsLst>
              <a:lin ang="5400000"/>
            </a:gradFill>
          </p:spPr>
        </p:sp>
      </p:grpSp>
      <p:grpSp>
        <p:nvGrpSpPr>
          <p:cNvPr name="Group 7" id="7"/>
          <p:cNvGrpSpPr/>
          <p:nvPr/>
        </p:nvGrpSpPr>
        <p:grpSpPr>
          <a:xfrm rot="0">
            <a:off x="-46873" y="0"/>
            <a:ext cx="950614" cy="10287000"/>
            <a:chOff x="0" y="0"/>
            <a:chExt cx="1267485" cy="13716000"/>
          </a:xfrm>
        </p:grpSpPr>
        <p:sp>
          <p:nvSpPr>
            <p:cNvPr name="Freeform 8" id="8"/>
            <p:cNvSpPr/>
            <p:nvPr/>
          </p:nvSpPr>
          <p:spPr>
            <a:xfrm flipH="false" flipV="true" rot="0">
              <a:off x="0" y="0"/>
              <a:ext cx="1267460" cy="13716000"/>
            </a:xfrm>
            <a:custGeom>
              <a:avLst/>
              <a:gdLst/>
              <a:ahLst/>
              <a:cxnLst/>
              <a:rect r="r" b="b" t="t" l="l"/>
              <a:pathLst>
                <a:path h="13716000" w="1267460">
                  <a:moveTo>
                    <a:pt x="0" y="0"/>
                  </a:moveTo>
                  <a:lnTo>
                    <a:pt x="1267460" y="0"/>
                  </a:lnTo>
                  <a:lnTo>
                    <a:pt x="1267460" y="13716000"/>
                  </a:lnTo>
                  <a:lnTo>
                    <a:pt x="0" y="13716000"/>
                  </a:lnTo>
                  <a:close/>
                </a:path>
              </a:pathLst>
            </a:custGeom>
            <a:blipFill>
              <a:blip r:embed="rId2"/>
              <a:stretch>
                <a:fillRect l="-2951" t="0" r="-2953" b="0"/>
              </a:stretch>
            </a:blipFill>
          </p:spPr>
        </p:sp>
      </p:grpSp>
      <p:sp>
        <p:nvSpPr>
          <p:cNvPr name="TextBox 9" id="9"/>
          <p:cNvSpPr txBox="true"/>
          <p:nvPr/>
        </p:nvSpPr>
        <p:spPr>
          <a:xfrm rot="-5400000">
            <a:off x="-2614688" y="6739452"/>
            <a:ext cx="6076721" cy="425920"/>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sp>
        <p:nvSpPr>
          <p:cNvPr name="Freeform 10" id="10"/>
          <p:cNvSpPr/>
          <p:nvPr/>
        </p:nvSpPr>
        <p:spPr>
          <a:xfrm flipH="false" flipV="false" rot="0">
            <a:off x="17262338" y="364607"/>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6719973" y="293294"/>
            <a:ext cx="4848044" cy="957948"/>
            <a:chOff x="0" y="0"/>
            <a:chExt cx="6464059" cy="1277264"/>
          </a:xfrm>
        </p:grpSpPr>
        <p:sp>
          <p:nvSpPr>
            <p:cNvPr name="Freeform 12" id="12"/>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3" id="13"/>
          <p:cNvGrpSpPr/>
          <p:nvPr/>
        </p:nvGrpSpPr>
        <p:grpSpPr>
          <a:xfrm rot="0">
            <a:off x="6807460" y="371332"/>
            <a:ext cx="4673079" cy="801872"/>
            <a:chOff x="0" y="0"/>
            <a:chExt cx="6230772" cy="1069162"/>
          </a:xfrm>
        </p:grpSpPr>
        <p:sp>
          <p:nvSpPr>
            <p:cNvPr name="Freeform 14" id="14"/>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5" id="15"/>
          <p:cNvGrpSpPr/>
          <p:nvPr/>
        </p:nvGrpSpPr>
        <p:grpSpPr>
          <a:xfrm rot="0">
            <a:off x="9436446" y="197910"/>
            <a:ext cx="1163307" cy="1152592"/>
            <a:chOff x="0" y="0"/>
            <a:chExt cx="1551076" cy="1536789"/>
          </a:xfrm>
        </p:grpSpPr>
        <p:sp>
          <p:nvSpPr>
            <p:cNvPr name="Freeform 16" id="16"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5"/>
              <a:stretch>
                <a:fillRect l="-75" t="0" r="-76" b="2"/>
              </a:stretch>
            </a:blipFill>
          </p:spPr>
        </p:sp>
      </p:grpSp>
      <p:grpSp>
        <p:nvGrpSpPr>
          <p:cNvPr name="Group 17" id="17"/>
          <p:cNvGrpSpPr/>
          <p:nvPr/>
        </p:nvGrpSpPr>
        <p:grpSpPr>
          <a:xfrm rot="0">
            <a:off x="7688247" y="233439"/>
            <a:ext cx="1307516" cy="1081516"/>
            <a:chOff x="0" y="0"/>
            <a:chExt cx="1743354" cy="1442022"/>
          </a:xfrm>
        </p:grpSpPr>
        <p:sp>
          <p:nvSpPr>
            <p:cNvPr name="Freeform 18" id="18"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6"/>
              <a:stretch>
                <a:fillRect l="0" t="-74" r="-1" b="-71"/>
              </a:stretch>
            </a:blipFill>
          </p:spPr>
        </p:sp>
      </p:grpSp>
      <p:grpSp>
        <p:nvGrpSpPr>
          <p:cNvPr name="Group 19" id="19"/>
          <p:cNvGrpSpPr/>
          <p:nvPr/>
        </p:nvGrpSpPr>
        <p:grpSpPr>
          <a:xfrm rot="0">
            <a:off x="0" y="2124"/>
            <a:ext cx="18291715" cy="10295487"/>
            <a:chOff x="0" y="0"/>
            <a:chExt cx="24388953" cy="13727316"/>
          </a:xfrm>
        </p:grpSpPr>
        <p:sp>
          <p:nvSpPr>
            <p:cNvPr name="Freeform 20" id="20"/>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1" id="21"/>
          <p:cNvGrpSpPr/>
          <p:nvPr/>
        </p:nvGrpSpPr>
        <p:grpSpPr>
          <a:xfrm rot="0">
            <a:off x="2266950" y="2367572"/>
            <a:ext cx="13754100" cy="2794978"/>
            <a:chOff x="0" y="0"/>
            <a:chExt cx="18338800" cy="3726638"/>
          </a:xfrm>
        </p:grpSpPr>
        <p:sp>
          <p:nvSpPr>
            <p:cNvPr name="Freeform 22" id="22"/>
            <p:cNvSpPr/>
            <p:nvPr/>
          </p:nvSpPr>
          <p:spPr>
            <a:xfrm flipH="false" flipV="false" rot="0">
              <a:off x="0" y="0"/>
              <a:ext cx="18338800" cy="3726639"/>
            </a:xfrm>
            <a:custGeom>
              <a:avLst/>
              <a:gdLst/>
              <a:ahLst/>
              <a:cxnLst/>
              <a:rect r="r" b="b" t="t" l="l"/>
              <a:pathLst>
                <a:path h="3726639" w="18338800">
                  <a:moveTo>
                    <a:pt x="0" y="0"/>
                  </a:moveTo>
                  <a:lnTo>
                    <a:pt x="18338800" y="0"/>
                  </a:lnTo>
                  <a:lnTo>
                    <a:pt x="18338800" y="3726639"/>
                  </a:lnTo>
                  <a:lnTo>
                    <a:pt x="0" y="3726639"/>
                  </a:lnTo>
                  <a:close/>
                </a:path>
              </a:pathLst>
            </a:custGeom>
            <a:blipFill>
              <a:blip r:embed="rId7">
                <a:alphaModFix amt="0"/>
              </a:blip>
              <a:stretch>
                <a:fillRect l="0" t="-45885" r="0" b="-45885"/>
              </a:stretch>
            </a:blipFill>
          </p:spPr>
        </p:sp>
        <p:sp>
          <p:nvSpPr>
            <p:cNvPr name="TextBox 23" id="23"/>
            <p:cNvSpPr txBox="true"/>
            <p:nvPr/>
          </p:nvSpPr>
          <p:spPr>
            <a:xfrm>
              <a:off x="0" y="19050"/>
              <a:ext cx="18338800" cy="3707588"/>
            </a:xfrm>
            <a:prstGeom prst="rect">
              <a:avLst/>
            </a:prstGeom>
          </p:spPr>
          <p:txBody>
            <a:bodyPr anchor="ctr" rtlCol="false" tIns="0" lIns="0" bIns="0" rIns="0"/>
            <a:lstStyle/>
            <a:p>
              <a:pPr algn="ctr">
                <a:lnSpc>
                  <a:spcPts val="5400"/>
                </a:lnSpc>
              </a:pPr>
              <a:r>
                <a:rPr lang="en-US" b="true" sz="5000">
                  <a:gradFill>
                    <a:gsLst>
                      <a:gs pos="0">
                        <a:srgbClr val="11998E">
                          <a:alpha val="100000"/>
                        </a:srgbClr>
                      </a:gs>
                      <a:gs pos="100000">
                        <a:srgbClr val="38EF7D">
                          <a:alpha val="100000"/>
                        </a:srgbClr>
                      </a:gs>
                    </a:gsLst>
                    <a:lin ang="16200000"/>
                  </a:gradFill>
                  <a:latin typeface="Times New Roman Bold"/>
                  <a:ea typeface="Times New Roman Bold"/>
                  <a:cs typeface="Times New Roman Bold"/>
                  <a:sym typeface="Times New Roman Bold"/>
                </a:rPr>
                <a:t>Thiết kế hệ thống vi xử lý đa lõi Ibex RISC-V với giao thức nhất quán bộ nhớ đệm Directory-based MESI và mạng kết nối Crossbar</a:t>
              </a:r>
            </a:p>
          </p:txBody>
        </p:sp>
      </p:grpSp>
      <p:grpSp>
        <p:nvGrpSpPr>
          <p:cNvPr name="Group 24" id="24"/>
          <p:cNvGrpSpPr/>
          <p:nvPr/>
        </p:nvGrpSpPr>
        <p:grpSpPr>
          <a:xfrm rot="0">
            <a:off x="5595423" y="1826343"/>
            <a:ext cx="3548577" cy="571500"/>
            <a:chOff x="0" y="0"/>
            <a:chExt cx="4731436" cy="762000"/>
          </a:xfrm>
        </p:grpSpPr>
        <p:sp>
          <p:nvSpPr>
            <p:cNvPr name="Freeform 25" id="25"/>
            <p:cNvSpPr/>
            <p:nvPr/>
          </p:nvSpPr>
          <p:spPr>
            <a:xfrm flipH="false" flipV="false" rot="0">
              <a:off x="0" y="0"/>
              <a:ext cx="4731436" cy="762000"/>
            </a:xfrm>
            <a:custGeom>
              <a:avLst/>
              <a:gdLst/>
              <a:ahLst/>
              <a:cxnLst/>
              <a:rect r="r" b="b" t="t" l="l"/>
              <a:pathLst>
                <a:path h="762000" w="4731436">
                  <a:moveTo>
                    <a:pt x="0" y="0"/>
                  </a:moveTo>
                  <a:lnTo>
                    <a:pt x="4731436" y="0"/>
                  </a:lnTo>
                  <a:lnTo>
                    <a:pt x="4731436" y="762000"/>
                  </a:lnTo>
                  <a:lnTo>
                    <a:pt x="0" y="7620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6" id="26"/>
            <p:cNvGrpSpPr/>
            <p:nvPr/>
          </p:nvGrpSpPr>
          <p:grpSpPr>
            <a:xfrm rot="0">
              <a:off x="0" y="0"/>
              <a:ext cx="4731436" cy="762000"/>
              <a:chOff x="0" y="0"/>
              <a:chExt cx="4731436" cy="762000"/>
            </a:xfrm>
          </p:grpSpPr>
          <p:sp>
            <p:nvSpPr>
              <p:cNvPr name="Freeform 27" id="27"/>
              <p:cNvSpPr/>
              <p:nvPr/>
            </p:nvSpPr>
            <p:spPr>
              <a:xfrm flipH="false" flipV="false" rot="0">
                <a:off x="0" y="0"/>
                <a:ext cx="4731434" cy="762000"/>
              </a:xfrm>
              <a:custGeom>
                <a:avLst/>
                <a:gdLst/>
                <a:ahLst/>
                <a:cxnLst/>
                <a:rect r="r" b="b" t="t" l="l"/>
                <a:pathLst>
                  <a:path h="762000" w="4731434">
                    <a:moveTo>
                      <a:pt x="0" y="0"/>
                    </a:moveTo>
                    <a:lnTo>
                      <a:pt x="4731434" y="0"/>
                    </a:lnTo>
                    <a:lnTo>
                      <a:pt x="4731434" y="762000"/>
                    </a:lnTo>
                    <a:lnTo>
                      <a:pt x="0" y="762000"/>
                    </a:lnTo>
                    <a:close/>
                  </a:path>
                </a:pathLst>
              </a:custGeom>
              <a:blipFill>
                <a:blip r:embed="rId7">
                  <a:alphaModFix amt="0"/>
                </a:blip>
                <a:stretch>
                  <a:fillRect l="0" t="-70987" r="0" b="-70987"/>
                </a:stretch>
              </a:blipFill>
            </p:spPr>
          </p:sp>
          <p:sp>
            <p:nvSpPr>
              <p:cNvPr name="TextBox 28" id="28"/>
              <p:cNvSpPr txBox="true"/>
              <p:nvPr/>
            </p:nvSpPr>
            <p:spPr>
              <a:xfrm>
                <a:off x="0" y="0"/>
                <a:ext cx="4731436" cy="762000"/>
              </a:xfrm>
              <a:prstGeom prst="rect">
                <a:avLst/>
              </a:prstGeom>
            </p:spPr>
            <p:txBody>
              <a:bodyPr anchor="ctr" rtlCol="false" tIns="0" lIns="0" bIns="0" rIns="0"/>
              <a:lstStyle/>
              <a:p>
                <a:pPr algn="ctr">
                  <a:lnSpc>
                    <a:spcPts val="1944"/>
                  </a:lnSpc>
                </a:pPr>
                <a:r>
                  <a:rPr lang="en-US" sz="1800" b="true">
                    <a:solidFill>
                      <a:srgbClr val="FFFFFF"/>
                    </a:solidFill>
                    <a:latin typeface="Arial Bold"/>
                    <a:ea typeface="Arial Bold"/>
                    <a:cs typeface="Arial Bold"/>
                    <a:sym typeface="Arial Bold"/>
                  </a:rPr>
                  <a:t>ĐỒ ÁN</a:t>
                </a:r>
              </a:p>
            </p:txBody>
          </p:sp>
        </p:grpSp>
      </p:grpSp>
      <p:sp>
        <p:nvSpPr>
          <p:cNvPr name="TextBox 29" id="29"/>
          <p:cNvSpPr txBox="true"/>
          <p:nvPr/>
        </p:nvSpPr>
        <p:spPr>
          <a:xfrm rot="0">
            <a:off x="2377440" y="5415344"/>
            <a:ext cx="13533120" cy="2102358"/>
          </a:xfrm>
          <a:prstGeom prst="rect">
            <a:avLst/>
          </a:prstGeom>
        </p:spPr>
        <p:txBody>
          <a:bodyPr anchor="t" rtlCol="false" tIns="0" lIns="0" bIns="0" rIns="0">
            <a:spAutoFit/>
          </a:bodyPr>
          <a:lstStyle/>
          <a:p>
            <a:pPr algn="l">
              <a:lnSpc>
                <a:spcPts val="5616"/>
              </a:lnSpc>
            </a:pPr>
            <a:r>
              <a:rPr lang="en-US" sz="3600" b="true">
                <a:solidFill>
                  <a:srgbClr val="029676"/>
                </a:solidFill>
                <a:latin typeface="Arial Bold"/>
                <a:ea typeface="Arial Bold"/>
                <a:cs typeface="Arial Bold"/>
                <a:sym typeface="Arial Bold"/>
              </a:rPr>
              <a:t>GVHD: Tạ Trí Đức</a:t>
            </a:r>
          </a:p>
          <a:p>
            <a:pPr algn="l" marL="651510" indent="-325755" lvl="1">
              <a:lnSpc>
                <a:spcPts val="5616"/>
              </a:lnSpc>
              <a:buFont typeface="Arial"/>
              <a:buChar char="•"/>
            </a:pPr>
            <a:r>
              <a:rPr lang="en-US" b="true" sz="3600">
                <a:solidFill>
                  <a:srgbClr val="000000"/>
                </a:solidFill>
                <a:latin typeface="Arial Bold"/>
                <a:ea typeface="Arial Bold"/>
                <a:cs typeface="Arial Bold"/>
                <a:sym typeface="Arial Bold"/>
              </a:rPr>
              <a:t>Lê Đăng Huy</a:t>
            </a:r>
            <a:r>
              <a:rPr lang="en-US" sz="3600">
                <a:solidFill>
                  <a:srgbClr val="000000"/>
                </a:solidFill>
                <a:latin typeface="Arial"/>
                <a:ea typeface="Arial"/>
                <a:cs typeface="Arial"/>
                <a:sym typeface="Arial"/>
              </a:rPr>
              <a:t>	MSSV 23520611</a:t>
            </a:r>
          </a:p>
          <a:p>
            <a:pPr algn="l" marL="651510" indent="-325755" lvl="1">
              <a:lnSpc>
                <a:spcPts val="5616"/>
              </a:lnSpc>
              <a:buFont typeface="Arial"/>
              <a:buChar char="•"/>
            </a:pPr>
            <a:r>
              <a:rPr lang="en-US" b="true" sz="3600">
                <a:solidFill>
                  <a:srgbClr val="000000"/>
                </a:solidFill>
                <a:latin typeface="Arial Bold"/>
                <a:ea typeface="Arial Bold"/>
                <a:cs typeface="Arial Bold"/>
                <a:sym typeface="Arial Bold"/>
              </a:rPr>
              <a:t>Bùi Hoàng Anh Huy</a:t>
            </a:r>
            <a:r>
              <a:rPr lang="en-US" sz="3600">
                <a:solidFill>
                  <a:srgbClr val="000000"/>
                </a:solidFill>
                <a:latin typeface="Arial"/>
                <a:ea typeface="Arial"/>
                <a:cs typeface="Arial"/>
                <a:sym typeface="Arial"/>
              </a:rPr>
              <a:t>	MSSV 23520592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name="Group 3" id="3"/>
          <p:cNvGrpSpPr/>
          <p:nvPr/>
        </p:nvGrpSpPr>
        <p:grpSpPr>
          <a:xfrm rot="0">
            <a:off x="0" y="2124"/>
            <a:ext cx="18291715" cy="10295487"/>
            <a:chOff x="0" y="0"/>
            <a:chExt cx="24388953" cy="13727316"/>
          </a:xfrm>
        </p:grpSpPr>
        <p:sp>
          <p:nvSpPr>
            <p:cNvPr name="Freeform 4" id="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5" id="5"/>
          <p:cNvGrpSpPr/>
          <p:nvPr/>
        </p:nvGrpSpPr>
        <p:grpSpPr>
          <a:xfrm rot="5400000">
            <a:off x="8668474" y="-8670065"/>
            <a:ext cx="947328" cy="18291715"/>
            <a:chOff x="0" y="0"/>
            <a:chExt cx="1263104" cy="24388953"/>
          </a:xfrm>
        </p:grpSpPr>
        <p:sp>
          <p:nvSpPr>
            <p:cNvPr name="Freeform 6" id="6"/>
            <p:cNvSpPr/>
            <p:nvPr/>
          </p:nvSpPr>
          <p:spPr>
            <a:xfrm flipH="false" flipV="fals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gradFill rotWithShape="true">
              <a:gsLst>
                <a:gs pos="0">
                  <a:srgbClr val="10CD57">
                    <a:alpha val="100000"/>
                  </a:srgbClr>
                </a:gs>
                <a:gs pos="100000">
                  <a:srgbClr val="027159">
                    <a:alpha val="100000"/>
                  </a:srgbClr>
                </a:gs>
              </a:gsLst>
              <a:lin ang="0"/>
            </a:gradFill>
          </p:spPr>
        </p:sp>
      </p:grpSp>
      <p:grpSp>
        <p:nvGrpSpPr>
          <p:cNvPr name="Group 7" id="7"/>
          <p:cNvGrpSpPr/>
          <p:nvPr/>
        </p:nvGrpSpPr>
        <p:grpSpPr>
          <a:xfrm rot="5400000">
            <a:off x="8670331" y="-8672198"/>
            <a:ext cx="947328" cy="18291715"/>
            <a:chOff x="0" y="0"/>
            <a:chExt cx="1263104" cy="24388953"/>
          </a:xfrm>
        </p:grpSpPr>
        <p:sp>
          <p:nvSpPr>
            <p:cNvPr name="Freeform 8" id="8"/>
            <p:cNvSpPr/>
            <p:nvPr/>
          </p:nvSpPr>
          <p:spPr>
            <a:xfrm flipH="false" flipV="tru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blipFill>
              <a:blip r:embed="rId2"/>
              <a:stretch>
                <a:fillRect l="-35093" t="0" r="-35090" b="0"/>
              </a:stretch>
            </a:blipFill>
          </p:spPr>
        </p:sp>
      </p:grpSp>
      <p:sp>
        <p:nvSpPr>
          <p:cNvPr name="TextBox 9" id="9"/>
          <p:cNvSpPr txBox="true"/>
          <p:nvPr/>
        </p:nvSpPr>
        <p:spPr>
          <a:xfrm rot="0">
            <a:off x="451866" y="248326"/>
            <a:ext cx="10947559" cy="424158"/>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10" id="10"/>
          <p:cNvGrpSpPr/>
          <p:nvPr/>
        </p:nvGrpSpPr>
        <p:grpSpPr>
          <a:xfrm rot="0">
            <a:off x="6719973" y="457933"/>
            <a:ext cx="4848044" cy="957948"/>
            <a:chOff x="0" y="0"/>
            <a:chExt cx="6464059" cy="1277264"/>
          </a:xfrm>
        </p:grpSpPr>
        <p:sp>
          <p:nvSpPr>
            <p:cNvPr name="Freeform 11" id="11"/>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2" id="12"/>
          <p:cNvGrpSpPr/>
          <p:nvPr/>
        </p:nvGrpSpPr>
        <p:grpSpPr>
          <a:xfrm rot="0">
            <a:off x="6807460" y="535962"/>
            <a:ext cx="4673079" cy="801872"/>
            <a:chOff x="0" y="0"/>
            <a:chExt cx="6230772" cy="1069162"/>
          </a:xfrm>
        </p:grpSpPr>
        <p:sp>
          <p:nvSpPr>
            <p:cNvPr name="Freeform 13" id="13"/>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4" id="14"/>
          <p:cNvGrpSpPr/>
          <p:nvPr/>
        </p:nvGrpSpPr>
        <p:grpSpPr>
          <a:xfrm rot="0">
            <a:off x="9436446" y="362541"/>
            <a:ext cx="1163307" cy="1152592"/>
            <a:chOff x="0" y="0"/>
            <a:chExt cx="1551076" cy="1536789"/>
          </a:xfrm>
        </p:grpSpPr>
        <p:sp>
          <p:nvSpPr>
            <p:cNvPr name="Freeform 15" id="15"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6" id="16"/>
          <p:cNvGrpSpPr/>
          <p:nvPr/>
        </p:nvGrpSpPr>
        <p:grpSpPr>
          <a:xfrm rot="0">
            <a:off x="7688247" y="398078"/>
            <a:ext cx="1307516" cy="1081516"/>
            <a:chOff x="0" y="0"/>
            <a:chExt cx="1743354" cy="1442022"/>
          </a:xfrm>
        </p:grpSpPr>
        <p:sp>
          <p:nvSpPr>
            <p:cNvPr name="Freeform 17" id="17"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8" id="18"/>
          <p:cNvSpPr/>
          <p:nvPr/>
        </p:nvSpPr>
        <p:spPr>
          <a:xfrm flipH="false" flipV="false" rot="0">
            <a:off x="17262338" y="9405385"/>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0" y="2124"/>
            <a:ext cx="18291715" cy="10295487"/>
            <a:chOff x="0" y="0"/>
            <a:chExt cx="24388953" cy="13727316"/>
          </a:xfrm>
        </p:grpSpPr>
        <p:sp>
          <p:nvSpPr>
            <p:cNvPr name="Freeform 20" id="20"/>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1" id="21"/>
          <p:cNvGrpSpPr/>
          <p:nvPr/>
        </p:nvGrpSpPr>
        <p:grpSpPr>
          <a:xfrm rot="0">
            <a:off x="908999" y="1555147"/>
            <a:ext cx="16470001" cy="1335996"/>
            <a:chOff x="0" y="0"/>
            <a:chExt cx="21960002" cy="1781327"/>
          </a:xfrm>
        </p:grpSpPr>
        <p:sp>
          <p:nvSpPr>
            <p:cNvPr name="Freeform 22" id="22"/>
            <p:cNvSpPr/>
            <p:nvPr/>
          </p:nvSpPr>
          <p:spPr>
            <a:xfrm flipH="false" flipV="false" rot="0">
              <a:off x="0" y="0"/>
              <a:ext cx="21960001" cy="1781326"/>
            </a:xfrm>
            <a:custGeom>
              <a:avLst/>
              <a:gdLst/>
              <a:ahLst/>
              <a:cxnLst/>
              <a:rect r="r" b="b" t="t" l="l"/>
              <a:pathLst>
                <a:path h="1781326" w="21960001">
                  <a:moveTo>
                    <a:pt x="0" y="0"/>
                  </a:moveTo>
                  <a:lnTo>
                    <a:pt x="21960001" y="0"/>
                  </a:lnTo>
                  <a:lnTo>
                    <a:pt x="21960001" y="1781326"/>
                  </a:lnTo>
                  <a:lnTo>
                    <a:pt x="0" y="1781326"/>
                  </a:lnTo>
                  <a:close/>
                </a:path>
              </a:pathLst>
            </a:custGeom>
            <a:blipFill>
              <a:blip r:embed="rId7">
                <a:alphaModFix amt="0"/>
              </a:blip>
              <a:stretch>
                <a:fillRect l="0" t="-190209" r="0" b="-190209"/>
              </a:stretch>
            </a:blipFill>
          </p:spPr>
        </p:sp>
        <p:sp>
          <p:nvSpPr>
            <p:cNvPr name="TextBox 23" id="23"/>
            <p:cNvSpPr txBox="true"/>
            <p:nvPr/>
          </p:nvSpPr>
          <p:spPr>
            <a:xfrm>
              <a:off x="0" y="38100"/>
              <a:ext cx="21960002" cy="1743227"/>
            </a:xfrm>
            <a:prstGeom prst="rect">
              <a:avLst/>
            </a:prstGeom>
          </p:spPr>
          <p:txBody>
            <a:bodyPr anchor="ctr" rtlCol="false" tIns="0" lIns="0" bIns="0" rIns="0"/>
            <a:lstStyle/>
            <a:p>
              <a:pPr algn="l">
                <a:lnSpc>
                  <a:spcPts val="7128"/>
                </a:lnSpc>
              </a:pPr>
              <a:r>
                <a:rPr lang="en-US" b="true" sz="660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Nội dung báo cáo</a:t>
              </a:r>
            </a:p>
          </p:txBody>
        </p:sp>
      </p:grpSp>
      <p:grpSp>
        <p:nvGrpSpPr>
          <p:cNvPr name="Group 24" id="24"/>
          <p:cNvGrpSpPr/>
          <p:nvPr/>
        </p:nvGrpSpPr>
        <p:grpSpPr>
          <a:xfrm rot="-5400000">
            <a:off x="14899291" y="5775646"/>
            <a:ext cx="6172200" cy="547688"/>
            <a:chOff x="0" y="0"/>
            <a:chExt cx="8229600" cy="730250"/>
          </a:xfrm>
        </p:grpSpPr>
        <p:sp>
          <p:nvSpPr>
            <p:cNvPr name="Freeform 25" id="25"/>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7">
                <a:alphaModFix amt="0"/>
              </a:blip>
              <a:stretch>
                <a:fillRect l="0" t="-169587" r="0" b="-169587"/>
              </a:stretch>
            </a:blipFill>
          </p:spPr>
        </p:sp>
        <p:sp>
          <p:nvSpPr>
            <p:cNvPr name="TextBox 26" id="26"/>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7" id="27"/>
          <p:cNvGrpSpPr/>
          <p:nvPr/>
        </p:nvGrpSpPr>
        <p:grpSpPr>
          <a:xfrm rot="0">
            <a:off x="15634421" y="9534525"/>
            <a:ext cx="4114800" cy="547688"/>
            <a:chOff x="0" y="0"/>
            <a:chExt cx="5486400" cy="730250"/>
          </a:xfrm>
        </p:grpSpPr>
        <p:sp>
          <p:nvSpPr>
            <p:cNvPr name="Freeform 28" id="28"/>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7">
                <a:alphaModFix amt="0"/>
              </a:blip>
              <a:stretch>
                <a:fillRect l="0" t="-96391" r="0" b="-96391"/>
              </a:stretch>
            </a:blipFill>
          </p:spPr>
        </p:sp>
        <p:sp>
          <p:nvSpPr>
            <p:cNvPr name="TextBox 29" id="29"/>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2</a:t>
              </a:r>
            </a:p>
          </p:txBody>
        </p:sp>
      </p:grpSp>
      <p:grpSp>
        <p:nvGrpSpPr>
          <p:cNvPr name="Group 30" id="30"/>
          <p:cNvGrpSpPr/>
          <p:nvPr/>
        </p:nvGrpSpPr>
        <p:grpSpPr>
          <a:xfrm rot="0">
            <a:off x="1535459" y="3128010"/>
            <a:ext cx="11683841" cy="1451134"/>
            <a:chOff x="0" y="0"/>
            <a:chExt cx="15578455" cy="1934845"/>
          </a:xfrm>
        </p:grpSpPr>
        <p:sp>
          <p:nvSpPr>
            <p:cNvPr name="Freeform 31" id="31"/>
            <p:cNvSpPr/>
            <p:nvPr/>
          </p:nvSpPr>
          <p:spPr>
            <a:xfrm flipH="false" flipV="false" rot="0">
              <a:off x="0" y="0"/>
              <a:ext cx="15578455" cy="1934845"/>
            </a:xfrm>
            <a:custGeom>
              <a:avLst/>
              <a:gdLst/>
              <a:ahLst/>
              <a:cxnLst/>
              <a:rect r="r" b="b" t="t" l="l"/>
              <a:pathLst>
                <a:path h="1934845" w="15578455">
                  <a:moveTo>
                    <a:pt x="0" y="130937"/>
                  </a:moveTo>
                  <a:cubicBezTo>
                    <a:pt x="0" y="58674"/>
                    <a:pt x="58674" y="0"/>
                    <a:pt x="130937" y="0"/>
                  </a:cubicBezTo>
                  <a:lnTo>
                    <a:pt x="15447518" y="0"/>
                  </a:lnTo>
                  <a:cubicBezTo>
                    <a:pt x="15519781" y="0"/>
                    <a:pt x="15578455" y="58674"/>
                    <a:pt x="15578455" y="130937"/>
                  </a:cubicBezTo>
                  <a:lnTo>
                    <a:pt x="15578455" y="1803908"/>
                  </a:lnTo>
                  <a:cubicBezTo>
                    <a:pt x="15578455" y="1876171"/>
                    <a:pt x="15519781" y="1934845"/>
                    <a:pt x="15447518" y="1934845"/>
                  </a:cubicBezTo>
                  <a:lnTo>
                    <a:pt x="130937" y="1934845"/>
                  </a:lnTo>
                  <a:cubicBezTo>
                    <a:pt x="58674" y="1934845"/>
                    <a:pt x="0" y="1876171"/>
                    <a:pt x="0" y="1803908"/>
                  </a:cubicBezTo>
                  <a:close/>
                </a:path>
              </a:pathLst>
            </a:custGeom>
            <a:solidFill>
              <a:srgbClr val="FFFFFF"/>
            </a:solidFill>
            <a:ln w="28575" cap="sq">
              <a:solidFill>
                <a:srgbClr val="027159"/>
              </a:solidFill>
              <a:prstDash val="solid"/>
              <a:miter/>
            </a:ln>
          </p:spPr>
        </p:sp>
      </p:grpSp>
      <p:grpSp>
        <p:nvGrpSpPr>
          <p:cNvPr name="Group 32" id="32"/>
          <p:cNvGrpSpPr/>
          <p:nvPr/>
        </p:nvGrpSpPr>
        <p:grpSpPr>
          <a:xfrm rot="0">
            <a:off x="1789509" y="3398158"/>
            <a:ext cx="910828" cy="910828"/>
            <a:chOff x="0" y="0"/>
            <a:chExt cx="1214438" cy="1214438"/>
          </a:xfrm>
        </p:grpSpPr>
        <p:sp>
          <p:nvSpPr>
            <p:cNvPr name="Freeform 33" id="33"/>
            <p:cNvSpPr/>
            <p:nvPr/>
          </p:nvSpPr>
          <p:spPr>
            <a:xfrm flipH="false" flipV="false" rot="0">
              <a:off x="0" y="0"/>
              <a:ext cx="1214501" cy="1214501"/>
            </a:xfrm>
            <a:custGeom>
              <a:avLst/>
              <a:gdLst/>
              <a:ahLst/>
              <a:cxnLst/>
              <a:rect r="r" b="b" t="t" l="l"/>
              <a:pathLst>
                <a:path h="1214501" w="1214501">
                  <a:moveTo>
                    <a:pt x="0" y="607187"/>
                  </a:moveTo>
                  <a:cubicBezTo>
                    <a:pt x="0" y="271907"/>
                    <a:pt x="271907" y="0"/>
                    <a:pt x="607187" y="0"/>
                  </a:cubicBezTo>
                  <a:cubicBezTo>
                    <a:pt x="942467" y="0"/>
                    <a:pt x="1214501" y="271907"/>
                    <a:pt x="1214501" y="607187"/>
                  </a:cubicBezTo>
                  <a:cubicBezTo>
                    <a:pt x="1214501" y="942467"/>
                    <a:pt x="942594" y="1214501"/>
                    <a:pt x="607187" y="1214501"/>
                  </a:cubicBezTo>
                  <a:cubicBezTo>
                    <a:pt x="271780" y="1214501"/>
                    <a:pt x="0" y="942594"/>
                    <a:pt x="0" y="607187"/>
                  </a:cubicBezTo>
                  <a:close/>
                </a:path>
              </a:pathLst>
            </a:custGeom>
            <a:solidFill>
              <a:srgbClr val="10CD57"/>
            </a:solidFill>
          </p:spPr>
        </p:sp>
        <p:sp>
          <p:nvSpPr>
            <p:cNvPr name="TextBox 34" id="34"/>
            <p:cNvSpPr txBox="true"/>
            <p:nvPr/>
          </p:nvSpPr>
          <p:spPr>
            <a:xfrm>
              <a:off x="0" y="-19050"/>
              <a:ext cx="1214438" cy="1233488"/>
            </a:xfrm>
            <a:prstGeom prst="rect">
              <a:avLst/>
            </a:prstGeom>
          </p:spPr>
          <p:txBody>
            <a:bodyPr anchor="ctr" rtlCol="false" tIns="50800" lIns="50800" bIns="50800" rIns="50800"/>
            <a:lstStyle/>
            <a:p>
              <a:pPr algn="ctr">
                <a:lnSpc>
                  <a:spcPts val="5040"/>
                </a:lnSpc>
              </a:pPr>
              <a:r>
                <a:rPr lang="en-US" sz="4200" b="true">
                  <a:solidFill>
                    <a:srgbClr val="FFFFFF"/>
                  </a:solidFill>
                  <a:latin typeface="Times New Roman Bold"/>
                  <a:ea typeface="Times New Roman Bold"/>
                  <a:cs typeface="Times New Roman Bold"/>
                  <a:sym typeface="Times New Roman Bold"/>
                </a:rPr>
                <a:t>1</a:t>
              </a:r>
            </a:p>
          </p:txBody>
        </p:sp>
      </p:grpSp>
      <p:grpSp>
        <p:nvGrpSpPr>
          <p:cNvPr name="Group 35" id="35"/>
          <p:cNvGrpSpPr/>
          <p:nvPr/>
        </p:nvGrpSpPr>
        <p:grpSpPr>
          <a:xfrm rot="0">
            <a:off x="2793597" y="3507324"/>
            <a:ext cx="10411416" cy="692496"/>
            <a:chOff x="0" y="0"/>
            <a:chExt cx="13881887" cy="923328"/>
          </a:xfrm>
        </p:grpSpPr>
        <p:sp>
          <p:nvSpPr>
            <p:cNvPr name="Freeform 36" id="36"/>
            <p:cNvSpPr/>
            <p:nvPr/>
          </p:nvSpPr>
          <p:spPr>
            <a:xfrm flipH="false" flipV="false" rot="0">
              <a:off x="0" y="0"/>
              <a:ext cx="13881881" cy="923330"/>
            </a:xfrm>
            <a:custGeom>
              <a:avLst/>
              <a:gdLst/>
              <a:ahLst/>
              <a:cxnLst/>
              <a:rect r="r" b="b" t="t" l="l"/>
              <a:pathLst>
                <a:path h="923330" w="13881881">
                  <a:moveTo>
                    <a:pt x="0" y="0"/>
                  </a:moveTo>
                  <a:lnTo>
                    <a:pt x="13881881" y="0"/>
                  </a:lnTo>
                  <a:lnTo>
                    <a:pt x="13881881" y="923330"/>
                  </a:lnTo>
                  <a:lnTo>
                    <a:pt x="0" y="923330"/>
                  </a:lnTo>
                  <a:close/>
                </a:path>
              </a:pathLst>
            </a:custGeom>
            <a:blipFill>
              <a:blip r:embed="rId7">
                <a:alphaModFix amt="0"/>
              </a:blip>
              <a:stretch>
                <a:fillRect l="0" t="-242949" r="0" b="-242949"/>
              </a:stretch>
            </a:blipFill>
          </p:spPr>
        </p:sp>
        <p:sp>
          <p:nvSpPr>
            <p:cNvPr name="TextBox 37" id="37"/>
            <p:cNvSpPr txBox="true"/>
            <p:nvPr/>
          </p:nvSpPr>
          <p:spPr>
            <a:xfrm>
              <a:off x="0" y="-28575"/>
              <a:ext cx="13881887" cy="951903"/>
            </a:xfrm>
            <a:prstGeom prst="rect">
              <a:avLst/>
            </a:prstGeom>
          </p:spPr>
          <p:txBody>
            <a:bodyPr anchor="ctr" rtlCol="false" tIns="0" lIns="0" bIns="0" rIns="0"/>
            <a:lstStyle/>
            <a:p>
              <a:pPr algn="l">
                <a:lnSpc>
                  <a:spcPts val="4320"/>
                </a:lnSpc>
              </a:pPr>
              <a:r>
                <a:rPr lang="en-US" sz="3600">
                  <a:solidFill>
                    <a:srgbClr val="000000"/>
                  </a:solidFill>
                  <a:latin typeface="Arial"/>
                  <a:ea typeface="Arial"/>
                  <a:cs typeface="Arial"/>
                  <a:sym typeface="Arial"/>
                </a:rPr>
                <a:t>Tổng quan đề tài</a:t>
              </a:r>
            </a:p>
          </p:txBody>
        </p:sp>
      </p:grpSp>
      <p:grpSp>
        <p:nvGrpSpPr>
          <p:cNvPr name="Group 38" id="38"/>
          <p:cNvGrpSpPr/>
          <p:nvPr/>
        </p:nvGrpSpPr>
        <p:grpSpPr>
          <a:xfrm rot="0">
            <a:off x="1535459" y="4868504"/>
            <a:ext cx="11683841" cy="1451134"/>
            <a:chOff x="0" y="0"/>
            <a:chExt cx="15578455" cy="1934845"/>
          </a:xfrm>
        </p:grpSpPr>
        <p:sp>
          <p:nvSpPr>
            <p:cNvPr name="Freeform 39" id="39"/>
            <p:cNvSpPr/>
            <p:nvPr/>
          </p:nvSpPr>
          <p:spPr>
            <a:xfrm flipH="false" flipV="false" rot="0">
              <a:off x="0" y="0"/>
              <a:ext cx="15578455" cy="1934845"/>
            </a:xfrm>
            <a:custGeom>
              <a:avLst/>
              <a:gdLst/>
              <a:ahLst/>
              <a:cxnLst/>
              <a:rect r="r" b="b" t="t" l="l"/>
              <a:pathLst>
                <a:path h="1934845" w="15578455">
                  <a:moveTo>
                    <a:pt x="0" y="130937"/>
                  </a:moveTo>
                  <a:cubicBezTo>
                    <a:pt x="0" y="58674"/>
                    <a:pt x="58674" y="0"/>
                    <a:pt x="130937" y="0"/>
                  </a:cubicBezTo>
                  <a:lnTo>
                    <a:pt x="15447518" y="0"/>
                  </a:lnTo>
                  <a:cubicBezTo>
                    <a:pt x="15519781" y="0"/>
                    <a:pt x="15578455" y="58674"/>
                    <a:pt x="15578455" y="130937"/>
                  </a:cubicBezTo>
                  <a:lnTo>
                    <a:pt x="15578455" y="1803908"/>
                  </a:lnTo>
                  <a:cubicBezTo>
                    <a:pt x="15578455" y="1876171"/>
                    <a:pt x="15519781" y="1934845"/>
                    <a:pt x="15447518" y="1934845"/>
                  </a:cubicBezTo>
                  <a:lnTo>
                    <a:pt x="130937" y="1934845"/>
                  </a:lnTo>
                  <a:cubicBezTo>
                    <a:pt x="58674" y="1934845"/>
                    <a:pt x="0" y="1876171"/>
                    <a:pt x="0" y="1803908"/>
                  </a:cubicBezTo>
                  <a:close/>
                </a:path>
              </a:pathLst>
            </a:custGeom>
            <a:solidFill>
              <a:srgbClr val="027159"/>
            </a:solidFill>
            <a:ln w="28575" cap="sq">
              <a:solidFill>
                <a:srgbClr val="027159"/>
              </a:solidFill>
              <a:prstDash val="solid"/>
              <a:miter/>
            </a:ln>
          </p:spPr>
        </p:sp>
      </p:grpSp>
      <p:grpSp>
        <p:nvGrpSpPr>
          <p:cNvPr name="Group 40" id="40"/>
          <p:cNvGrpSpPr/>
          <p:nvPr/>
        </p:nvGrpSpPr>
        <p:grpSpPr>
          <a:xfrm rot="0">
            <a:off x="1789509" y="5138661"/>
            <a:ext cx="910828" cy="910828"/>
            <a:chOff x="0" y="0"/>
            <a:chExt cx="1214438" cy="1214438"/>
          </a:xfrm>
        </p:grpSpPr>
        <p:sp>
          <p:nvSpPr>
            <p:cNvPr name="Freeform 41" id="41"/>
            <p:cNvSpPr/>
            <p:nvPr/>
          </p:nvSpPr>
          <p:spPr>
            <a:xfrm flipH="false" flipV="false" rot="0">
              <a:off x="0" y="0"/>
              <a:ext cx="1214501" cy="1214501"/>
            </a:xfrm>
            <a:custGeom>
              <a:avLst/>
              <a:gdLst/>
              <a:ahLst/>
              <a:cxnLst/>
              <a:rect r="r" b="b" t="t" l="l"/>
              <a:pathLst>
                <a:path h="1214501" w="1214501">
                  <a:moveTo>
                    <a:pt x="0" y="607187"/>
                  </a:moveTo>
                  <a:cubicBezTo>
                    <a:pt x="0" y="271907"/>
                    <a:pt x="271907" y="0"/>
                    <a:pt x="607187" y="0"/>
                  </a:cubicBezTo>
                  <a:cubicBezTo>
                    <a:pt x="942467" y="0"/>
                    <a:pt x="1214501" y="271907"/>
                    <a:pt x="1214501" y="607187"/>
                  </a:cubicBezTo>
                  <a:cubicBezTo>
                    <a:pt x="1214501" y="942467"/>
                    <a:pt x="942594" y="1214501"/>
                    <a:pt x="607187" y="1214501"/>
                  </a:cubicBezTo>
                  <a:cubicBezTo>
                    <a:pt x="271780" y="1214501"/>
                    <a:pt x="0" y="942594"/>
                    <a:pt x="0" y="607187"/>
                  </a:cubicBezTo>
                  <a:close/>
                </a:path>
              </a:pathLst>
            </a:custGeom>
            <a:solidFill>
              <a:srgbClr val="10CD57"/>
            </a:solidFill>
          </p:spPr>
        </p:sp>
        <p:sp>
          <p:nvSpPr>
            <p:cNvPr name="TextBox 42" id="42"/>
            <p:cNvSpPr txBox="true"/>
            <p:nvPr/>
          </p:nvSpPr>
          <p:spPr>
            <a:xfrm>
              <a:off x="0" y="-19050"/>
              <a:ext cx="1214438" cy="1233488"/>
            </a:xfrm>
            <a:prstGeom prst="rect">
              <a:avLst/>
            </a:prstGeom>
          </p:spPr>
          <p:txBody>
            <a:bodyPr anchor="ctr" rtlCol="false" tIns="50800" lIns="50800" bIns="50800" rIns="50800"/>
            <a:lstStyle/>
            <a:p>
              <a:pPr algn="ctr">
                <a:lnSpc>
                  <a:spcPts val="5040"/>
                </a:lnSpc>
              </a:pPr>
              <a:r>
                <a:rPr lang="en-US" sz="4200" b="true">
                  <a:solidFill>
                    <a:srgbClr val="FFFFFF"/>
                  </a:solidFill>
                  <a:latin typeface="Times New Roman Bold"/>
                  <a:ea typeface="Times New Roman Bold"/>
                  <a:cs typeface="Times New Roman Bold"/>
                  <a:sym typeface="Times New Roman Bold"/>
                </a:rPr>
                <a:t>2</a:t>
              </a:r>
            </a:p>
          </p:txBody>
        </p:sp>
      </p:grpSp>
      <p:grpSp>
        <p:nvGrpSpPr>
          <p:cNvPr name="Group 43" id="43"/>
          <p:cNvGrpSpPr/>
          <p:nvPr/>
        </p:nvGrpSpPr>
        <p:grpSpPr>
          <a:xfrm rot="0">
            <a:off x="2793597" y="5247818"/>
            <a:ext cx="9913868" cy="692496"/>
            <a:chOff x="0" y="0"/>
            <a:chExt cx="13218490" cy="923328"/>
          </a:xfrm>
        </p:grpSpPr>
        <p:sp>
          <p:nvSpPr>
            <p:cNvPr name="Freeform 44" id="44"/>
            <p:cNvSpPr/>
            <p:nvPr/>
          </p:nvSpPr>
          <p:spPr>
            <a:xfrm flipH="false" flipV="false" rot="0">
              <a:off x="0" y="0"/>
              <a:ext cx="13218495" cy="923330"/>
            </a:xfrm>
            <a:custGeom>
              <a:avLst/>
              <a:gdLst/>
              <a:ahLst/>
              <a:cxnLst/>
              <a:rect r="r" b="b" t="t" l="l"/>
              <a:pathLst>
                <a:path h="923330" w="13218495">
                  <a:moveTo>
                    <a:pt x="0" y="0"/>
                  </a:moveTo>
                  <a:lnTo>
                    <a:pt x="13218495" y="0"/>
                  </a:lnTo>
                  <a:lnTo>
                    <a:pt x="13218495" y="923330"/>
                  </a:lnTo>
                  <a:lnTo>
                    <a:pt x="0" y="923330"/>
                  </a:lnTo>
                  <a:close/>
                </a:path>
              </a:pathLst>
            </a:custGeom>
            <a:blipFill>
              <a:blip r:embed="rId7">
                <a:alphaModFix amt="0"/>
              </a:blip>
              <a:stretch>
                <a:fillRect l="0" t="-228949" r="0" b="-228949"/>
              </a:stretch>
            </a:blipFill>
          </p:spPr>
        </p:sp>
        <p:sp>
          <p:nvSpPr>
            <p:cNvPr name="TextBox 45" id="45"/>
            <p:cNvSpPr txBox="true"/>
            <p:nvPr/>
          </p:nvSpPr>
          <p:spPr>
            <a:xfrm>
              <a:off x="0" y="-28575"/>
              <a:ext cx="13218490" cy="951903"/>
            </a:xfrm>
            <a:prstGeom prst="rect">
              <a:avLst/>
            </a:prstGeom>
          </p:spPr>
          <p:txBody>
            <a:bodyPr anchor="ctr" rtlCol="false" tIns="0" lIns="0" bIns="0" rIns="0"/>
            <a:lstStyle/>
            <a:p>
              <a:pPr algn="l">
                <a:lnSpc>
                  <a:spcPts val="4320"/>
                </a:lnSpc>
              </a:pPr>
              <a:r>
                <a:rPr lang="en-US" sz="3600">
                  <a:solidFill>
                    <a:srgbClr val="FFFFFF"/>
                  </a:solidFill>
                  <a:latin typeface="Arial"/>
                  <a:ea typeface="Arial"/>
                  <a:cs typeface="Arial"/>
                  <a:sym typeface="Arial"/>
                </a:rPr>
                <a:t>Giải pháp đề xuất</a:t>
              </a:r>
            </a:p>
          </p:txBody>
        </p:sp>
      </p:grpSp>
      <p:grpSp>
        <p:nvGrpSpPr>
          <p:cNvPr name="Group 46" id="46"/>
          <p:cNvGrpSpPr/>
          <p:nvPr/>
        </p:nvGrpSpPr>
        <p:grpSpPr>
          <a:xfrm rot="0">
            <a:off x="1535459" y="6609007"/>
            <a:ext cx="11683841" cy="1451134"/>
            <a:chOff x="0" y="0"/>
            <a:chExt cx="15578455" cy="1934845"/>
          </a:xfrm>
        </p:grpSpPr>
        <p:sp>
          <p:nvSpPr>
            <p:cNvPr name="Freeform 47" id="47"/>
            <p:cNvSpPr/>
            <p:nvPr/>
          </p:nvSpPr>
          <p:spPr>
            <a:xfrm flipH="false" flipV="false" rot="0">
              <a:off x="0" y="0"/>
              <a:ext cx="15578455" cy="1934845"/>
            </a:xfrm>
            <a:custGeom>
              <a:avLst/>
              <a:gdLst/>
              <a:ahLst/>
              <a:cxnLst/>
              <a:rect r="r" b="b" t="t" l="l"/>
              <a:pathLst>
                <a:path h="1934845" w="15578455">
                  <a:moveTo>
                    <a:pt x="0" y="130937"/>
                  </a:moveTo>
                  <a:cubicBezTo>
                    <a:pt x="0" y="58674"/>
                    <a:pt x="58674" y="0"/>
                    <a:pt x="130937" y="0"/>
                  </a:cubicBezTo>
                  <a:lnTo>
                    <a:pt x="15447518" y="0"/>
                  </a:lnTo>
                  <a:cubicBezTo>
                    <a:pt x="15519781" y="0"/>
                    <a:pt x="15578455" y="58674"/>
                    <a:pt x="15578455" y="130937"/>
                  </a:cubicBezTo>
                  <a:lnTo>
                    <a:pt x="15578455" y="1803908"/>
                  </a:lnTo>
                  <a:cubicBezTo>
                    <a:pt x="15578455" y="1876171"/>
                    <a:pt x="15519781" y="1934845"/>
                    <a:pt x="15447518" y="1934845"/>
                  </a:cubicBezTo>
                  <a:lnTo>
                    <a:pt x="130937" y="1934845"/>
                  </a:lnTo>
                  <a:cubicBezTo>
                    <a:pt x="58674" y="1934845"/>
                    <a:pt x="0" y="1876171"/>
                    <a:pt x="0" y="1803908"/>
                  </a:cubicBezTo>
                  <a:close/>
                </a:path>
              </a:pathLst>
            </a:custGeom>
            <a:solidFill>
              <a:srgbClr val="FFFFFF"/>
            </a:solidFill>
            <a:ln w="28575" cap="sq">
              <a:solidFill>
                <a:srgbClr val="027159"/>
              </a:solidFill>
              <a:prstDash val="solid"/>
              <a:miter/>
            </a:ln>
          </p:spPr>
        </p:sp>
      </p:grpSp>
      <p:grpSp>
        <p:nvGrpSpPr>
          <p:cNvPr name="Group 48" id="48"/>
          <p:cNvGrpSpPr/>
          <p:nvPr/>
        </p:nvGrpSpPr>
        <p:grpSpPr>
          <a:xfrm rot="0">
            <a:off x="1789509" y="6879155"/>
            <a:ext cx="910828" cy="910828"/>
            <a:chOff x="0" y="0"/>
            <a:chExt cx="1214438" cy="1214438"/>
          </a:xfrm>
        </p:grpSpPr>
        <p:sp>
          <p:nvSpPr>
            <p:cNvPr name="Freeform 49" id="49"/>
            <p:cNvSpPr/>
            <p:nvPr/>
          </p:nvSpPr>
          <p:spPr>
            <a:xfrm flipH="false" flipV="false" rot="0">
              <a:off x="0" y="0"/>
              <a:ext cx="1214501" cy="1214501"/>
            </a:xfrm>
            <a:custGeom>
              <a:avLst/>
              <a:gdLst/>
              <a:ahLst/>
              <a:cxnLst/>
              <a:rect r="r" b="b" t="t" l="l"/>
              <a:pathLst>
                <a:path h="1214501" w="1214501">
                  <a:moveTo>
                    <a:pt x="0" y="607187"/>
                  </a:moveTo>
                  <a:cubicBezTo>
                    <a:pt x="0" y="271907"/>
                    <a:pt x="271907" y="0"/>
                    <a:pt x="607187" y="0"/>
                  </a:cubicBezTo>
                  <a:cubicBezTo>
                    <a:pt x="942467" y="0"/>
                    <a:pt x="1214501" y="271907"/>
                    <a:pt x="1214501" y="607187"/>
                  </a:cubicBezTo>
                  <a:cubicBezTo>
                    <a:pt x="1214501" y="942467"/>
                    <a:pt x="942594" y="1214501"/>
                    <a:pt x="607187" y="1214501"/>
                  </a:cubicBezTo>
                  <a:cubicBezTo>
                    <a:pt x="271780" y="1214501"/>
                    <a:pt x="0" y="942594"/>
                    <a:pt x="0" y="607187"/>
                  </a:cubicBezTo>
                  <a:close/>
                </a:path>
              </a:pathLst>
            </a:custGeom>
            <a:solidFill>
              <a:srgbClr val="10CD57"/>
            </a:solidFill>
          </p:spPr>
        </p:sp>
        <p:sp>
          <p:nvSpPr>
            <p:cNvPr name="TextBox 50" id="50"/>
            <p:cNvSpPr txBox="true"/>
            <p:nvPr/>
          </p:nvSpPr>
          <p:spPr>
            <a:xfrm>
              <a:off x="0" y="-19050"/>
              <a:ext cx="1214438" cy="1233488"/>
            </a:xfrm>
            <a:prstGeom prst="rect">
              <a:avLst/>
            </a:prstGeom>
          </p:spPr>
          <p:txBody>
            <a:bodyPr anchor="ctr" rtlCol="false" tIns="50800" lIns="50800" bIns="50800" rIns="50800"/>
            <a:lstStyle/>
            <a:p>
              <a:pPr algn="ctr">
                <a:lnSpc>
                  <a:spcPts val="5040"/>
                </a:lnSpc>
              </a:pPr>
              <a:r>
                <a:rPr lang="en-US" sz="4200" b="true">
                  <a:solidFill>
                    <a:srgbClr val="FFFFFF"/>
                  </a:solidFill>
                  <a:latin typeface="Times New Roman Bold"/>
                  <a:ea typeface="Times New Roman Bold"/>
                  <a:cs typeface="Times New Roman Bold"/>
                  <a:sym typeface="Times New Roman Bold"/>
                </a:rPr>
                <a:t>3</a:t>
              </a:r>
            </a:p>
          </p:txBody>
        </p:sp>
      </p:grpSp>
      <p:grpSp>
        <p:nvGrpSpPr>
          <p:cNvPr name="Group 51" id="51"/>
          <p:cNvGrpSpPr/>
          <p:nvPr/>
        </p:nvGrpSpPr>
        <p:grpSpPr>
          <a:xfrm rot="0">
            <a:off x="2793597" y="6988321"/>
            <a:ext cx="9913868" cy="692496"/>
            <a:chOff x="0" y="0"/>
            <a:chExt cx="13218490" cy="923328"/>
          </a:xfrm>
        </p:grpSpPr>
        <p:sp>
          <p:nvSpPr>
            <p:cNvPr name="Freeform 52" id="52"/>
            <p:cNvSpPr/>
            <p:nvPr/>
          </p:nvSpPr>
          <p:spPr>
            <a:xfrm flipH="false" flipV="false" rot="0">
              <a:off x="0" y="0"/>
              <a:ext cx="13218495" cy="923330"/>
            </a:xfrm>
            <a:custGeom>
              <a:avLst/>
              <a:gdLst/>
              <a:ahLst/>
              <a:cxnLst/>
              <a:rect r="r" b="b" t="t" l="l"/>
              <a:pathLst>
                <a:path h="923330" w="13218495">
                  <a:moveTo>
                    <a:pt x="0" y="0"/>
                  </a:moveTo>
                  <a:lnTo>
                    <a:pt x="13218495" y="0"/>
                  </a:lnTo>
                  <a:lnTo>
                    <a:pt x="13218495" y="923330"/>
                  </a:lnTo>
                  <a:lnTo>
                    <a:pt x="0" y="923330"/>
                  </a:lnTo>
                  <a:close/>
                </a:path>
              </a:pathLst>
            </a:custGeom>
            <a:blipFill>
              <a:blip r:embed="rId7">
                <a:alphaModFix amt="0"/>
              </a:blip>
              <a:stretch>
                <a:fillRect l="0" t="-228949" r="0" b="-228949"/>
              </a:stretch>
            </a:blipFill>
          </p:spPr>
        </p:sp>
        <p:sp>
          <p:nvSpPr>
            <p:cNvPr name="TextBox 53" id="53"/>
            <p:cNvSpPr txBox="true"/>
            <p:nvPr/>
          </p:nvSpPr>
          <p:spPr>
            <a:xfrm>
              <a:off x="0" y="-28575"/>
              <a:ext cx="13218490" cy="951903"/>
            </a:xfrm>
            <a:prstGeom prst="rect">
              <a:avLst/>
            </a:prstGeom>
          </p:spPr>
          <p:txBody>
            <a:bodyPr anchor="ctr" rtlCol="false" tIns="0" lIns="0" bIns="0" rIns="0"/>
            <a:lstStyle/>
            <a:p>
              <a:pPr algn="l">
                <a:lnSpc>
                  <a:spcPts val="4320"/>
                </a:lnSpc>
              </a:pPr>
              <a:r>
                <a:rPr lang="en-US" sz="3600">
                  <a:solidFill>
                    <a:srgbClr val="000000"/>
                  </a:solidFill>
                  <a:latin typeface="Arial"/>
                  <a:ea typeface="Arial"/>
                  <a:cs typeface="Arial"/>
                  <a:sym typeface="Arial"/>
                </a:rPr>
                <a:t>Kết quả giải pháp đề xuất</a:t>
              </a:r>
            </a:p>
          </p:txBody>
        </p:sp>
      </p:grpSp>
      <p:grpSp>
        <p:nvGrpSpPr>
          <p:cNvPr name="Group 54" id="54"/>
          <p:cNvGrpSpPr/>
          <p:nvPr/>
        </p:nvGrpSpPr>
        <p:grpSpPr>
          <a:xfrm rot="0">
            <a:off x="1535459" y="8349501"/>
            <a:ext cx="11683841" cy="1451134"/>
            <a:chOff x="0" y="0"/>
            <a:chExt cx="15578455" cy="1934845"/>
          </a:xfrm>
        </p:grpSpPr>
        <p:sp>
          <p:nvSpPr>
            <p:cNvPr name="Freeform 55" id="55"/>
            <p:cNvSpPr/>
            <p:nvPr/>
          </p:nvSpPr>
          <p:spPr>
            <a:xfrm flipH="false" flipV="false" rot="0">
              <a:off x="0" y="0"/>
              <a:ext cx="15578455" cy="1934845"/>
            </a:xfrm>
            <a:custGeom>
              <a:avLst/>
              <a:gdLst/>
              <a:ahLst/>
              <a:cxnLst/>
              <a:rect r="r" b="b" t="t" l="l"/>
              <a:pathLst>
                <a:path h="1934845" w="15578455">
                  <a:moveTo>
                    <a:pt x="0" y="130937"/>
                  </a:moveTo>
                  <a:cubicBezTo>
                    <a:pt x="0" y="58674"/>
                    <a:pt x="58674" y="0"/>
                    <a:pt x="130937" y="0"/>
                  </a:cubicBezTo>
                  <a:lnTo>
                    <a:pt x="15447518" y="0"/>
                  </a:lnTo>
                  <a:cubicBezTo>
                    <a:pt x="15519781" y="0"/>
                    <a:pt x="15578455" y="58674"/>
                    <a:pt x="15578455" y="130937"/>
                  </a:cubicBezTo>
                  <a:lnTo>
                    <a:pt x="15578455" y="1803908"/>
                  </a:lnTo>
                  <a:cubicBezTo>
                    <a:pt x="15578455" y="1876171"/>
                    <a:pt x="15519781" y="1934845"/>
                    <a:pt x="15447518" y="1934845"/>
                  </a:cubicBezTo>
                  <a:lnTo>
                    <a:pt x="130937" y="1934845"/>
                  </a:lnTo>
                  <a:cubicBezTo>
                    <a:pt x="58674" y="1934845"/>
                    <a:pt x="0" y="1876171"/>
                    <a:pt x="0" y="1803908"/>
                  </a:cubicBezTo>
                  <a:close/>
                </a:path>
              </a:pathLst>
            </a:custGeom>
            <a:solidFill>
              <a:srgbClr val="027159"/>
            </a:solidFill>
            <a:ln w="28575" cap="sq">
              <a:solidFill>
                <a:srgbClr val="027159"/>
              </a:solidFill>
              <a:prstDash val="solid"/>
              <a:miter/>
            </a:ln>
          </p:spPr>
        </p:sp>
      </p:grpSp>
      <p:grpSp>
        <p:nvGrpSpPr>
          <p:cNvPr name="Group 56" id="56"/>
          <p:cNvGrpSpPr/>
          <p:nvPr/>
        </p:nvGrpSpPr>
        <p:grpSpPr>
          <a:xfrm rot="0">
            <a:off x="1789509" y="8619649"/>
            <a:ext cx="910828" cy="910828"/>
            <a:chOff x="0" y="0"/>
            <a:chExt cx="1214438" cy="1214438"/>
          </a:xfrm>
        </p:grpSpPr>
        <p:sp>
          <p:nvSpPr>
            <p:cNvPr name="Freeform 57" id="57"/>
            <p:cNvSpPr/>
            <p:nvPr/>
          </p:nvSpPr>
          <p:spPr>
            <a:xfrm flipH="false" flipV="false" rot="0">
              <a:off x="0" y="0"/>
              <a:ext cx="1214501" cy="1214501"/>
            </a:xfrm>
            <a:custGeom>
              <a:avLst/>
              <a:gdLst/>
              <a:ahLst/>
              <a:cxnLst/>
              <a:rect r="r" b="b" t="t" l="l"/>
              <a:pathLst>
                <a:path h="1214501" w="1214501">
                  <a:moveTo>
                    <a:pt x="0" y="607187"/>
                  </a:moveTo>
                  <a:cubicBezTo>
                    <a:pt x="0" y="271907"/>
                    <a:pt x="271907" y="0"/>
                    <a:pt x="607187" y="0"/>
                  </a:cubicBezTo>
                  <a:cubicBezTo>
                    <a:pt x="942467" y="0"/>
                    <a:pt x="1214501" y="271907"/>
                    <a:pt x="1214501" y="607187"/>
                  </a:cubicBezTo>
                  <a:cubicBezTo>
                    <a:pt x="1214501" y="942467"/>
                    <a:pt x="942594" y="1214501"/>
                    <a:pt x="607187" y="1214501"/>
                  </a:cubicBezTo>
                  <a:cubicBezTo>
                    <a:pt x="271780" y="1214501"/>
                    <a:pt x="0" y="942594"/>
                    <a:pt x="0" y="607187"/>
                  </a:cubicBezTo>
                  <a:close/>
                </a:path>
              </a:pathLst>
            </a:custGeom>
            <a:solidFill>
              <a:srgbClr val="10CD57"/>
            </a:solidFill>
          </p:spPr>
        </p:sp>
        <p:sp>
          <p:nvSpPr>
            <p:cNvPr name="TextBox 58" id="58"/>
            <p:cNvSpPr txBox="true"/>
            <p:nvPr/>
          </p:nvSpPr>
          <p:spPr>
            <a:xfrm>
              <a:off x="0" y="-19050"/>
              <a:ext cx="1214438" cy="1233488"/>
            </a:xfrm>
            <a:prstGeom prst="rect">
              <a:avLst/>
            </a:prstGeom>
          </p:spPr>
          <p:txBody>
            <a:bodyPr anchor="ctr" rtlCol="false" tIns="50800" lIns="50800" bIns="50800" rIns="50800"/>
            <a:lstStyle/>
            <a:p>
              <a:pPr algn="ctr">
                <a:lnSpc>
                  <a:spcPts val="5040"/>
                </a:lnSpc>
              </a:pPr>
              <a:r>
                <a:rPr lang="en-US" sz="4200" b="true">
                  <a:solidFill>
                    <a:srgbClr val="FFFFFF"/>
                  </a:solidFill>
                  <a:latin typeface="Times New Roman Bold"/>
                  <a:ea typeface="Times New Roman Bold"/>
                  <a:cs typeface="Times New Roman Bold"/>
                  <a:sym typeface="Times New Roman Bold"/>
                </a:rPr>
                <a:t>4</a:t>
              </a:r>
            </a:p>
          </p:txBody>
        </p:sp>
      </p:grpSp>
      <p:grpSp>
        <p:nvGrpSpPr>
          <p:cNvPr name="Group 59" id="59"/>
          <p:cNvGrpSpPr/>
          <p:nvPr/>
        </p:nvGrpSpPr>
        <p:grpSpPr>
          <a:xfrm rot="0">
            <a:off x="2793597" y="8728815"/>
            <a:ext cx="9913868" cy="692496"/>
            <a:chOff x="0" y="0"/>
            <a:chExt cx="13218490" cy="923328"/>
          </a:xfrm>
        </p:grpSpPr>
        <p:sp>
          <p:nvSpPr>
            <p:cNvPr name="Freeform 60" id="60"/>
            <p:cNvSpPr/>
            <p:nvPr/>
          </p:nvSpPr>
          <p:spPr>
            <a:xfrm flipH="false" flipV="false" rot="0">
              <a:off x="0" y="0"/>
              <a:ext cx="13218495" cy="923330"/>
            </a:xfrm>
            <a:custGeom>
              <a:avLst/>
              <a:gdLst/>
              <a:ahLst/>
              <a:cxnLst/>
              <a:rect r="r" b="b" t="t" l="l"/>
              <a:pathLst>
                <a:path h="923330" w="13218495">
                  <a:moveTo>
                    <a:pt x="0" y="0"/>
                  </a:moveTo>
                  <a:lnTo>
                    <a:pt x="13218495" y="0"/>
                  </a:lnTo>
                  <a:lnTo>
                    <a:pt x="13218495" y="923330"/>
                  </a:lnTo>
                  <a:lnTo>
                    <a:pt x="0" y="923330"/>
                  </a:lnTo>
                  <a:close/>
                </a:path>
              </a:pathLst>
            </a:custGeom>
            <a:blipFill>
              <a:blip r:embed="rId7">
                <a:alphaModFix amt="0"/>
              </a:blip>
              <a:stretch>
                <a:fillRect l="0" t="-228949" r="0" b="-228949"/>
              </a:stretch>
            </a:blipFill>
          </p:spPr>
        </p:sp>
        <p:sp>
          <p:nvSpPr>
            <p:cNvPr name="TextBox 61" id="61"/>
            <p:cNvSpPr txBox="true"/>
            <p:nvPr/>
          </p:nvSpPr>
          <p:spPr>
            <a:xfrm>
              <a:off x="0" y="-28575"/>
              <a:ext cx="13218490" cy="951903"/>
            </a:xfrm>
            <a:prstGeom prst="rect">
              <a:avLst/>
            </a:prstGeom>
          </p:spPr>
          <p:txBody>
            <a:bodyPr anchor="ctr" rtlCol="false" tIns="0" lIns="0" bIns="0" rIns="0"/>
            <a:lstStyle/>
            <a:p>
              <a:pPr algn="l">
                <a:lnSpc>
                  <a:spcPts val="4320"/>
                </a:lnSpc>
              </a:pPr>
              <a:r>
                <a:rPr lang="en-US" sz="3600">
                  <a:solidFill>
                    <a:srgbClr val="FFFFFF"/>
                  </a:solidFill>
                  <a:latin typeface="Arial"/>
                  <a:ea typeface="Arial"/>
                  <a:cs typeface="Arial"/>
                  <a:sym typeface="Arial"/>
                </a:rPr>
                <a:t>Kết luận và hướng phát triển</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name="Group 3" id="3"/>
          <p:cNvGrpSpPr/>
          <p:nvPr/>
        </p:nvGrpSpPr>
        <p:grpSpPr>
          <a:xfrm rot="0">
            <a:off x="0" y="2124"/>
            <a:ext cx="18291715" cy="10295487"/>
            <a:chOff x="0" y="0"/>
            <a:chExt cx="24388953" cy="13727316"/>
          </a:xfrm>
        </p:grpSpPr>
        <p:sp>
          <p:nvSpPr>
            <p:cNvPr name="Freeform 4" id="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5" id="5"/>
          <p:cNvGrpSpPr/>
          <p:nvPr/>
        </p:nvGrpSpPr>
        <p:grpSpPr>
          <a:xfrm rot="0">
            <a:off x="-36214" y="0"/>
            <a:ext cx="6084589" cy="10287000"/>
            <a:chOff x="0" y="0"/>
            <a:chExt cx="8112785" cy="13716000"/>
          </a:xfrm>
        </p:grpSpPr>
        <p:sp>
          <p:nvSpPr>
            <p:cNvPr name="Freeform 6" id="6"/>
            <p:cNvSpPr/>
            <p:nvPr/>
          </p:nvSpPr>
          <p:spPr>
            <a:xfrm flipH="false" flipV="false" rot="0">
              <a:off x="0" y="0"/>
              <a:ext cx="8112760" cy="13716000"/>
            </a:xfrm>
            <a:custGeom>
              <a:avLst/>
              <a:gdLst/>
              <a:ahLst/>
              <a:cxnLst/>
              <a:rect r="r" b="b" t="t" l="l"/>
              <a:pathLst>
                <a:path h="13716000" w="8112760">
                  <a:moveTo>
                    <a:pt x="0" y="0"/>
                  </a:moveTo>
                  <a:lnTo>
                    <a:pt x="8112760" y="0"/>
                  </a:lnTo>
                  <a:lnTo>
                    <a:pt x="8112760" y="13716000"/>
                  </a:lnTo>
                  <a:lnTo>
                    <a:pt x="0" y="13716000"/>
                  </a:lnTo>
                  <a:close/>
                </a:path>
              </a:pathLst>
            </a:custGeom>
            <a:gradFill rotWithShape="true">
              <a:gsLst>
                <a:gs pos="0">
                  <a:srgbClr val="38EF7D">
                    <a:alpha val="100000"/>
                  </a:srgbClr>
                </a:gs>
                <a:gs pos="100000">
                  <a:srgbClr val="11998E">
                    <a:alpha val="100000"/>
                  </a:srgbClr>
                </a:gs>
              </a:gsLst>
              <a:lin ang="5400000"/>
            </a:gradFill>
          </p:spPr>
        </p:sp>
      </p:grpSp>
      <p:grpSp>
        <p:nvGrpSpPr>
          <p:cNvPr name="Group 7" id="7"/>
          <p:cNvGrpSpPr/>
          <p:nvPr/>
        </p:nvGrpSpPr>
        <p:grpSpPr>
          <a:xfrm rot="0">
            <a:off x="-46873" y="0"/>
            <a:ext cx="2707176" cy="10287000"/>
            <a:chOff x="0" y="0"/>
            <a:chExt cx="3609569" cy="13716000"/>
          </a:xfrm>
        </p:grpSpPr>
        <p:sp>
          <p:nvSpPr>
            <p:cNvPr name="Freeform 8" id="8"/>
            <p:cNvSpPr/>
            <p:nvPr/>
          </p:nvSpPr>
          <p:spPr>
            <a:xfrm flipH="false" flipV="true" rot="0">
              <a:off x="0" y="0"/>
              <a:ext cx="3609594" cy="13716000"/>
            </a:xfrm>
            <a:custGeom>
              <a:avLst/>
              <a:gdLst/>
              <a:ahLst/>
              <a:cxnLst/>
              <a:rect r="r" b="b" t="t" l="l"/>
              <a:pathLst>
                <a:path h="13716000" w="3609594">
                  <a:moveTo>
                    <a:pt x="0" y="0"/>
                  </a:moveTo>
                  <a:lnTo>
                    <a:pt x="3609594" y="0"/>
                  </a:lnTo>
                  <a:lnTo>
                    <a:pt x="3609594" y="13716000"/>
                  </a:lnTo>
                  <a:lnTo>
                    <a:pt x="0" y="13716000"/>
                  </a:lnTo>
                  <a:close/>
                </a:path>
              </a:pathLst>
            </a:custGeom>
            <a:blipFill>
              <a:blip r:embed="rId2"/>
              <a:stretch>
                <a:fillRect l="-2907" t="0" r="-2906" b="0"/>
              </a:stretch>
            </a:blipFill>
          </p:spPr>
        </p:sp>
      </p:grpSp>
      <p:sp>
        <p:nvSpPr>
          <p:cNvPr name="TextBox 9" id="9"/>
          <p:cNvSpPr txBox="true"/>
          <p:nvPr/>
        </p:nvSpPr>
        <p:spPr>
          <a:xfrm rot="-5400000">
            <a:off x="-2614688" y="6739452"/>
            <a:ext cx="6076721" cy="425920"/>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10" id="10"/>
          <p:cNvGrpSpPr/>
          <p:nvPr/>
        </p:nvGrpSpPr>
        <p:grpSpPr>
          <a:xfrm rot="0">
            <a:off x="6719973" y="293294"/>
            <a:ext cx="4848044" cy="957948"/>
            <a:chOff x="0" y="0"/>
            <a:chExt cx="6464059" cy="1277264"/>
          </a:xfrm>
        </p:grpSpPr>
        <p:sp>
          <p:nvSpPr>
            <p:cNvPr name="Freeform 11" id="11"/>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2" id="12"/>
          <p:cNvGrpSpPr/>
          <p:nvPr/>
        </p:nvGrpSpPr>
        <p:grpSpPr>
          <a:xfrm rot="0">
            <a:off x="6807460" y="371332"/>
            <a:ext cx="4673079" cy="801872"/>
            <a:chOff x="0" y="0"/>
            <a:chExt cx="6230772" cy="1069162"/>
          </a:xfrm>
        </p:grpSpPr>
        <p:sp>
          <p:nvSpPr>
            <p:cNvPr name="Freeform 13" id="13"/>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4" id="14"/>
          <p:cNvGrpSpPr/>
          <p:nvPr/>
        </p:nvGrpSpPr>
        <p:grpSpPr>
          <a:xfrm rot="0">
            <a:off x="9436446" y="197910"/>
            <a:ext cx="1163307" cy="1152592"/>
            <a:chOff x="0" y="0"/>
            <a:chExt cx="1551076" cy="1536789"/>
          </a:xfrm>
        </p:grpSpPr>
        <p:sp>
          <p:nvSpPr>
            <p:cNvPr name="Freeform 15" id="15"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6" id="16"/>
          <p:cNvGrpSpPr/>
          <p:nvPr/>
        </p:nvGrpSpPr>
        <p:grpSpPr>
          <a:xfrm rot="0">
            <a:off x="7688247" y="233439"/>
            <a:ext cx="1307516" cy="1081516"/>
            <a:chOff x="0" y="0"/>
            <a:chExt cx="1743354" cy="1442022"/>
          </a:xfrm>
        </p:grpSpPr>
        <p:sp>
          <p:nvSpPr>
            <p:cNvPr name="Freeform 17" id="17"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8" id="18"/>
          <p:cNvSpPr/>
          <p:nvPr/>
        </p:nvSpPr>
        <p:spPr>
          <a:xfrm flipH="false" flipV="false" rot="0">
            <a:off x="17262338" y="364607"/>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1705232" y="2175643"/>
            <a:ext cx="15315943" cy="6434480"/>
            <a:chOff x="0" y="0"/>
            <a:chExt cx="20421257" cy="8579307"/>
          </a:xfrm>
        </p:grpSpPr>
        <p:sp>
          <p:nvSpPr>
            <p:cNvPr name="Freeform 20" id="20"/>
            <p:cNvSpPr/>
            <p:nvPr/>
          </p:nvSpPr>
          <p:spPr>
            <a:xfrm flipH="false" flipV="false" rot="0">
              <a:off x="0" y="0"/>
              <a:ext cx="20421346" cy="8579358"/>
            </a:xfrm>
            <a:custGeom>
              <a:avLst/>
              <a:gdLst/>
              <a:ahLst/>
              <a:cxnLst/>
              <a:rect r="r" b="b" t="t" l="l"/>
              <a:pathLst>
                <a:path h="8579358" w="20421346">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7"/>
              <a:stretch>
                <a:fillRect l="-189" t="0" r="-189" b="0"/>
              </a:stretch>
            </a:blipFill>
          </p:spPr>
        </p:sp>
      </p:grpSp>
      <p:grpSp>
        <p:nvGrpSpPr>
          <p:cNvPr name="Group 21" id="21"/>
          <p:cNvGrpSpPr/>
          <p:nvPr/>
        </p:nvGrpSpPr>
        <p:grpSpPr>
          <a:xfrm rot="0">
            <a:off x="1705232" y="2175643"/>
            <a:ext cx="15315943" cy="6434480"/>
            <a:chOff x="0" y="0"/>
            <a:chExt cx="20421257" cy="8579307"/>
          </a:xfrm>
        </p:grpSpPr>
        <p:sp>
          <p:nvSpPr>
            <p:cNvPr name="Freeform 22" id="22"/>
            <p:cNvSpPr/>
            <p:nvPr/>
          </p:nvSpPr>
          <p:spPr>
            <a:xfrm flipH="false" flipV="false" rot="0">
              <a:off x="0" y="0"/>
              <a:ext cx="20421346" cy="8579358"/>
            </a:xfrm>
            <a:custGeom>
              <a:avLst/>
              <a:gdLst/>
              <a:ahLst/>
              <a:cxnLst/>
              <a:rect r="r" b="b" t="t" l="l"/>
              <a:pathLst>
                <a:path h="8579358" w="20421346">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true">
              <a:gsLst>
                <a:gs pos="0">
                  <a:srgbClr val="38EF7D">
                    <a:alpha val="40000"/>
                  </a:srgbClr>
                </a:gs>
                <a:gs pos="100000">
                  <a:srgbClr val="11998E">
                    <a:alpha val="40000"/>
                  </a:srgbClr>
                </a:gs>
              </a:gsLst>
              <a:lin ang="4032715"/>
            </a:gradFill>
          </p:spPr>
        </p:sp>
      </p:grpSp>
      <p:grpSp>
        <p:nvGrpSpPr>
          <p:cNvPr name="Group 23" id="23"/>
          <p:cNvGrpSpPr/>
          <p:nvPr/>
        </p:nvGrpSpPr>
        <p:grpSpPr>
          <a:xfrm rot="0">
            <a:off x="0" y="2124"/>
            <a:ext cx="18291715" cy="10295487"/>
            <a:chOff x="0" y="0"/>
            <a:chExt cx="24388953" cy="13727316"/>
          </a:xfrm>
        </p:grpSpPr>
        <p:sp>
          <p:nvSpPr>
            <p:cNvPr name="Freeform 24" id="2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5" id="25"/>
          <p:cNvGrpSpPr/>
          <p:nvPr/>
        </p:nvGrpSpPr>
        <p:grpSpPr>
          <a:xfrm rot="0">
            <a:off x="10848975" y="9534525"/>
            <a:ext cx="6172200" cy="547688"/>
            <a:chOff x="0" y="0"/>
            <a:chExt cx="8229600" cy="730250"/>
          </a:xfrm>
        </p:grpSpPr>
        <p:sp>
          <p:nvSpPr>
            <p:cNvPr name="Freeform 26" id="26"/>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8">
                <a:alphaModFix amt="0"/>
              </a:blip>
              <a:stretch>
                <a:fillRect l="0" t="-169587" r="0" b="-169587"/>
              </a:stretch>
            </a:blipFill>
          </p:spPr>
        </p:sp>
        <p:sp>
          <p:nvSpPr>
            <p:cNvPr name="TextBox 27" id="27"/>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8" id="28"/>
          <p:cNvGrpSpPr/>
          <p:nvPr/>
        </p:nvGrpSpPr>
        <p:grpSpPr>
          <a:xfrm rot="0">
            <a:off x="15614542" y="498424"/>
            <a:ext cx="4114800" cy="547688"/>
            <a:chOff x="0" y="0"/>
            <a:chExt cx="5486400" cy="730250"/>
          </a:xfrm>
        </p:grpSpPr>
        <p:sp>
          <p:nvSpPr>
            <p:cNvPr name="Freeform 29" id="29"/>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8">
                <a:alphaModFix amt="0"/>
              </a:blip>
              <a:stretch>
                <a:fillRect l="0" t="-96391" r="0" b="-96391"/>
              </a:stretch>
            </a:blipFill>
          </p:spPr>
        </p:sp>
        <p:sp>
          <p:nvSpPr>
            <p:cNvPr name="TextBox 30" id="30"/>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3</a:t>
              </a:r>
            </a:p>
          </p:txBody>
        </p:sp>
      </p:grpSp>
      <p:grpSp>
        <p:nvGrpSpPr>
          <p:cNvPr name="Group 31" id="31"/>
          <p:cNvGrpSpPr/>
          <p:nvPr/>
        </p:nvGrpSpPr>
        <p:grpSpPr>
          <a:xfrm rot="0">
            <a:off x="2480043" y="3638074"/>
            <a:ext cx="13766321" cy="2258930"/>
            <a:chOff x="0" y="0"/>
            <a:chExt cx="18355094" cy="3011907"/>
          </a:xfrm>
        </p:grpSpPr>
        <p:sp>
          <p:nvSpPr>
            <p:cNvPr name="Freeform 32" id="32"/>
            <p:cNvSpPr/>
            <p:nvPr/>
          </p:nvSpPr>
          <p:spPr>
            <a:xfrm flipH="false" flipV="false" rot="0">
              <a:off x="0" y="0"/>
              <a:ext cx="18355097" cy="3011906"/>
            </a:xfrm>
            <a:custGeom>
              <a:avLst/>
              <a:gdLst/>
              <a:ahLst/>
              <a:cxnLst/>
              <a:rect r="r" b="b" t="t" l="l"/>
              <a:pathLst>
                <a:path h="3011906" w="18355097">
                  <a:moveTo>
                    <a:pt x="0" y="0"/>
                  </a:moveTo>
                  <a:lnTo>
                    <a:pt x="18355097" y="0"/>
                  </a:lnTo>
                  <a:lnTo>
                    <a:pt x="18355097" y="3011906"/>
                  </a:lnTo>
                  <a:lnTo>
                    <a:pt x="0" y="3011906"/>
                  </a:lnTo>
                  <a:close/>
                </a:path>
              </a:pathLst>
            </a:custGeom>
            <a:blipFill>
              <a:blip r:embed="rId8">
                <a:alphaModFix amt="0"/>
              </a:blip>
              <a:stretch>
                <a:fillRect l="0" t="-68745" r="0" b="-68745"/>
              </a:stretch>
            </a:blipFill>
          </p:spPr>
        </p:sp>
        <p:sp>
          <p:nvSpPr>
            <p:cNvPr name="TextBox 33" id="33"/>
            <p:cNvSpPr txBox="true"/>
            <p:nvPr/>
          </p:nvSpPr>
          <p:spPr>
            <a:xfrm>
              <a:off x="0" y="38100"/>
              <a:ext cx="18355094" cy="2973807"/>
            </a:xfrm>
            <a:prstGeom prst="rect">
              <a:avLst/>
            </a:prstGeom>
          </p:spPr>
          <p:txBody>
            <a:bodyPr anchor="ctr" rtlCol="false" tIns="0" lIns="0" bIns="0" rIns="0"/>
            <a:lstStyle/>
            <a:p>
              <a:pPr algn="l">
                <a:lnSpc>
                  <a:spcPts val="7873"/>
                </a:lnSpc>
              </a:pPr>
              <a:r>
                <a:rPr lang="en-US" sz="7290" b="true">
                  <a:solidFill>
                    <a:srgbClr val="FFFFFF"/>
                  </a:solidFill>
                  <a:latin typeface="Times New Roman Bold"/>
                  <a:ea typeface="Times New Roman Bold"/>
                  <a:cs typeface="Times New Roman Bold"/>
                  <a:sym typeface="Times New Roman Bold"/>
                </a:rPr>
                <a:t>TỔNG QUAN</a:t>
              </a:r>
            </a:p>
            <a:p>
              <a:pPr algn="l">
                <a:lnSpc>
                  <a:spcPts val="7873"/>
                </a:lnSpc>
              </a:pPr>
              <a:r>
                <a:rPr lang="en-US" sz="7290" b="true">
                  <a:solidFill>
                    <a:srgbClr val="FFFFFF"/>
                  </a:solidFill>
                  <a:latin typeface="Times New Roman Bold"/>
                  <a:ea typeface="Times New Roman Bold"/>
                  <a:cs typeface="Times New Roman Bold"/>
                  <a:sym typeface="Times New Roman Bold"/>
                </a:rPr>
                <a:t>ĐỀ TÀI NGHIÊN CỨU</a:t>
              </a:r>
            </a:p>
          </p:txBody>
        </p:sp>
      </p:grpSp>
      <p:sp>
        <p:nvSpPr>
          <p:cNvPr name="TextBox 34" id="34"/>
          <p:cNvSpPr txBox="true"/>
          <p:nvPr/>
        </p:nvSpPr>
        <p:spPr>
          <a:xfrm rot="0">
            <a:off x="2571483" y="1020985"/>
            <a:ext cx="2896076" cy="2454116"/>
          </a:xfrm>
          <a:prstGeom prst="rect">
            <a:avLst/>
          </a:prstGeom>
        </p:spPr>
        <p:txBody>
          <a:bodyPr anchor="t" rtlCol="false" tIns="0" lIns="0" bIns="0" rIns="0">
            <a:spAutoFit/>
          </a:bodyPr>
          <a:lstStyle/>
          <a:p>
            <a:pPr algn="l">
              <a:lnSpc>
                <a:spcPts val="18630"/>
              </a:lnSpc>
            </a:pPr>
            <a:r>
              <a:rPr lang="en-US" sz="17250" b="true">
                <a:solidFill>
                  <a:srgbClr val="FFFFFF">
                    <a:alpha val="65098"/>
                  </a:srgbClr>
                </a:solidFill>
                <a:latin typeface="Arial Bold"/>
                <a:ea typeface="Arial Bold"/>
                <a:cs typeface="Arial Bold"/>
                <a:sym typeface="Arial Bold"/>
              </a:rPr>
              <a:t>01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name="Group 3" id="3"/>
          <p:cNvGrpSpPr/>
          <p:nvPr/>
        </p:nvGrpSpPr>
        <p:grpSpPr>
          <a:xfrm rot="0">
            <a:off x="0" y="2124"/>
            <a:ext cx="18291715" cy="10295487"/>
            <a:chOff x="0" y="0"/>
            <a:chExt cx="24388953" cy="13727316"/>
          </a:xfrm>
        </p:grpSpPr>
        <p:sp>
          <p:nvSpPr>
            <p:cNvPr name="Freeform 4" id="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5" id="5"/>
          <p:cNvGrpSpPr/>
          <p:nvPr/>
        </p:nvGrpSpPr>
        <p:grpSpPr>
          <a:xfrm rot="5400000">
            <a:off x="8668474" y="-8670065"/>
            <a:ext cx="947328" cy="18291715"/>
            <a:chOff x="0" y="0"/>
            <a:chExt cx="1263104" cy="24388953"/>
          </a:xfrm>
        </p:grpSpPr>
        <p:sp>
          <p:nvSpPr>
            <p:cNvPr name="Freeform 6" id="6"/>
            <p:cNvSpPr/>
            <p:nvPr/>
          </p:nvSpPr>
          <p:spPr>
            <a:xfrm flipH="false" flipV="fals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gradFill rotWithShape="true">
              <a:gsLst>
                <a:gs pos="0">
                  <a:srgbClr val="10CD57">
                    <a:alpha val="100000"/>
                  </a:srgbClr>
                </a:gs>
                <a:gs pos="100000">
                  <a:srgbClr val="027159">
                    <a:alpha val="100000"/>
                  </a:srgbClr>
                </a:gs>
              </a:gsLst>
              <a:lin ang="0"/>
            </a:gradFill>
          </p:spPr>
        </p:sp>
      </p:grpSp>
      <p:grpSp>
        <p:nvGrpSpPr>
          <p:cNvPr name="Group 7" id="7"/>
          <p:cNvGrpSpPr/>
          <p:nvPr/>
        </p:nvGrpSpPr>
        <p:grpSpPr>
          <a:xfrm rot="5400000">
            <a:off x="8670331" y="-8672198"/>
            <a:ext cx="947328" cy="18291715"/>
            <a:chOff x="0" y="0"/>
            <a:chExt cx="1263104" cy="24388953"/>
          </a:xfrm>
        </p:grpSpPr>
        <p:sp>
          <p:nvSpPr>
            <p:cNvPr name="Freeform 8" id="8"/>
            <p:cNvSpPr/>
            <p:nvPr/>
          </p:nvSpPr>
          <p:spPr>
            <a:xfrm flipH="false" flipV="tru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blipFill>
              <a:blip r:embed="rId2"/>
              <a:stretch>
                <a:fillRect l="-35093" t="0" r="-35090" b="0"/>
              </a:stretch>
            </a:blipFill>
          </p:spPr>
        </p:sp>
      </p:grpSp>
      <p:sp>
        <p:nvSpPr>
          <p:cNvPr name="TextBox 9" id="9"/>
          <p:cNvSpPr txBox="true"/>
          <p:nvPr/>
        </p:nvSpPr>
        <p:spPr>
          <a:xfrm rot="0">
            <a:off x="451866" y="248326"/>
            <a:ext cx="10947559" cy="424158"/>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10" id="10"/>
          <p:cNvGrpSpPr/>
          <p:nvPr/>
        </p:nvGrpSpPr>
        <p:grpSpPr>
          <a:xfrm rot="0">
            <a:off x="6719973" y="457933"/>
            <a:ext cx="4848044" cy="957948"/>
            <a:chOff x="0" y="0"/>
            <a:chExt cx="6464059" cy="1277264"/>
          </a:xfrm>
        </p:grpSpPr>
        <p:sp>
          <p:nvSpPr>
            <p:cNvPr name="Freeform 11" id="11"/>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2" id="12"/>
          <p:cNvGrpSpPr/>
          <p:nvPr/>
        </p:nvGrpSpPr>
        <p:grpSpPr>
          <a:xfrm rot="0">
            <a:off x="6807460" y="535962"/>
            <a:ext cx="4673079" cy="801872"/>
            <a:chOff x="0" y="0"/>
            <a:chExt cx="6230772" cy="1069162"/>
          </a:xfrm>
        </p:grpSpPr>
        <p:sp>
          <p:nvSpPr>
            <p:cNvPr name="Freeform 13" id="13"/>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4" id="14"/>
          <p:cNvGrpSpPr/>
          <p:nvPr/>
        </p:nvGrpSpPr>
        <p:grpSpPr>
          <a:xfrm rot="0">
            <a:off x="9436446" y="362541"/>
            <a:ext cx="1163307" cy="1152592"/>
            <a:chOff x="0" y="0"/>
            <a:chExt cx="1551076" cy="1536789"/>
          </a:xfrm>
        </p:grpSpPr>
        <p:sp>
          <p:nvSpPr>
            <p:cNvPr name="Freeform 15" id="15"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6" id="16"/>
          <p:cNvGrpSpPr/>
          <p:nvPr/>
        </p:nvGrpSpPr>
        <p:grpSpPr>
          <a:xfrm rot="0">
            <a:off x="7688247" y="398078"/>
            <a:ext cx="1307516" cy="1081516"/>
            <a:chOff x="0" y="0"/>
            <a:chExt cx="1743354" cy="1442022"/>
          </a:xfrm>
        </p:grpSpPr>
        <p:sp>
          <p:nvSpPr>
            <p:cNvPr name="Freeform 17" id="17"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8" id="18"/>
          <p:cNvSpPr/>
          <p:nvPr/>
        </p:nvSpPr>
        <p:spPr>
          <a:xfrm flipH="false" flipV="false" rot="0">
            <a:off x="17262338" y="9405385"/>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0" y="2124"/>
            <a:ext cx="18291715" cy="10295487"/>
            <a:chOff x="0" y="0"/>
            <a:chExt cx="24388953" cy="13727316"/>
          </a:xfrm>
        </p:grpSpPr>
        <p:sp>
          <p:nvSpPr>
            <p:cNvPr name="Freeform 20" id="20"/>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1" id="21"/>
          <p:cNvGrpSpPr/>
          <p:nvPr/>
        </p:nvGrpSpPr>
        <p:grpSpPr>
          <a:xfrm rot="0">
            <a:off x="908999" y="1555147"/>
            <a:ext cx="16470001" cy="1335996"/>
            <a:chOff x="0" y="0"/>
            <a:chExt cx="21960002" cy="1781327"/>
          </a:xfrm>
        </p:grpSpPr>
        <p:sp>
          <p:nvSpPr>
            <p:cNvPr name="Freeform 22" id="22"/>
            <p:cNvSpPr/>
            <p:nvPr/>
          </p:nvSpPr>
          <p:spPr>
            <a:xfrm flipH="false" flipV="false" rot="0">
              <a:off x="0" y="0"/>
              <a:ext cx="21960001" cy="1781326"/>
            </a:xfrm>
            <a:custGeom>
              <a:avLst/>
              <a:gdLst/>
              <a:ahLst/>
              <a:cxnLst/>
              <a:rect r="r" b="b" t="t" l="l"/>
              <a:pathLst>
                <a:path h="1781326" w="21960001">
                  <a:moveTo>
                    <a:pt x="0" y="0"/>
                  </a:moveTo>
                  <a:lnTo>
                    <a:pt x="21960001" y="0"/>
                  </a:lnTo>
                  <a:lnTo>
                    <a:pt x="21960001" y="1781326"/>
                  </a:lnTo>
                  <a:lnTo>
                    <a:pt x="0" y="1781326"/>
                  </a:lnTo>
                  <a:close/>
                </a:path>
              </a:pathLst>
            </a:custGeom>
            <a:blipFill>
              <a:blip r:embed="rId7">
                <a:alphaModFix amt="0"/>
              </a:blip>
              <a:stretch>
                <a:fillRect l="0" t="-190209" r="0" b="-190209"/>
              </a:stretch>
            </a:blipFill>
          </p:spPr>
        </p:sp>
        <p:sp>
          <p:nvSpPr>
            <p:cNvPr name="TextBox 23" id="23"/>
            <p:cNvSpPr txBox="true"/>
            <p:nvPr/>
          </p:nvSpPr>
          <p:spPr>
            <a:xfrm>
              <a:off x="0" y="38100"/>
              <a:ext cx="21960002" cy="1743227"/>
            </a:xfrm>
            <a:prstGeom prst="rect">
              <a:avLst/>
            </a:prstGeom>
          </p:spPr>
          <p:txBody>
            <a:bodyPr anchor="ctr" rtlCol="false" tIns="0" lIns="0" bIns="0" rIns="0"/>
            <a:lstStyle/>
            <a:p>
              <a:pPr algn="l">
                <a:lnSpc>
                  <a:spcPts val="7128"/>
                </a:lnSpc>
              </a:pPr>
              <a:r>
                <a:rPr lang="en-US" b="true" sz="660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1. Tổng quan đề tài nghiên cứu</a:t>
              </a:r>
            </a:p>
          </p:txBody>
        </p:sp>
      </p:grpSp>
      <p:sp>
        <p:nvSpPr>
          <p:cNvPr name="TextBox 24" id="24"/>
          <p:cNvSpPr txBox="true"/>
          <p:nvPr/>
        </p:nvSpPr>
        <p:spPr>
          <a:xfrm rot="0">
            <a:off x="1000439" y="2933262"/>
            <a:ext cx="16287121" cy="7467219"/>
          </a:xfrm>
          <a:prstGeom prst="rect">
            <a:avLst/>
          </a:prstGeom>
        </p:spPr>
        <p:txBody>
          <a:bodyPr anchor="t" rtlCol="false" tIns="0" lIns="0" bIns="0" rIns="0">
            <a:spAutoFit/>
          </a:bodyPr>
          <a:lstStyle/>
          <a:p>
            <a:pPr algn="l" marL="633416" indent="-316708" lvl="1">
              <a:lnSpc>
                <a:spcPts val="5460"/>
              </a:lnSpc>
              <a:buFont typeface="Arial"/>
              <a:buChar char="•"/>
            </a:pPr>
            <a:r>
              <a:rPr lang="en-US" sz="3500">
                <a:solidFill>
                  <a:srgbClr val="000000"/>
                </a:solidFill>
                <a:latin typeface="Arial"/>
                <a:ea typeface="Arial"/>
                <a:cs typeface="Arial"/>
                <a:sym typeface="Arial"/>
              </a:rPr>
              <a:t>Hệ thống gốc là dual-core Ibex RISC-V dùng shared bus + bộ nhớ chia sẻ, các core truy cập tuần tự qua arbiter.</a:t>
            </a:r>
          </a:p>
          <a:p>
            <a:pPr algn="l" marL="1114431" indent="-371477" lvl="2">
              <a:lnSpc>
                <a:spcPts val="4680"/>
              </a:lnSpc>
              <a:buFont typeface="Arial"/>
              <a:buChar char="⚬"/>
            </a:pPr>
            <a:r>
              <a:rPr lang="en-US" sz="3000">
                <a:solidFill>
                  <a:srgbClr val="000000"/>
                </a:solidFill>
                <a:latin typeface="Arial"/>
                <a:ea typeface="Arial"/>
                <a:cs typeface="Arial"/>
                <a:sym typeface="Arial"/>
              </a:rPr>
              <a:t>Vấn đề cần giải quyết: Shared bus là điểm nghẽn băng thông; quan trọng hơn, khi hai core cùng đọc/ghi một vùng dữ liệu chia sẻ, </a:t>
            </a:r>
            <a:r>
              <a:rPr lang="en-US" b="true" sz="3000">
                <a:solidFill>
                  <a:srgbClr val="000000"/>
                </a:solidFill>
                <a:latin typeface="Arial Bold"/>
                <a:ea typeface="Arial Bold"/>
                <a:cs typeface="Arial Bold"/>
                <a:sym typeface="Arial Bold"/>
              </a:rPr>
              <a:t>không có cơ chế đảm bảo nhất quán bộ nhớ đệm (cache coherence)</a:t>
            </a:r>
            <a:r>
              <a:rPr lang="en-US" sz="3000">
                <a:solidFill>
                  <a:srgbClr val="000000"/>
                </a:solidFill>
                <a:latin typeface="Arial"/>
                <a:ea typeface="Arial"/>
                <a:cs typeface="Arial"/>
                <a:sym typeface="Arial"/>
              </a:rPr>
              <a:t> → core này có thể đọc dữ liệu cũ của core kia.</a:t>
            </a:r>
          </a:p>
          <a:p>
            <a:pPr algn="l" marL="1114431" indent="-371477" lvl="2">
              <a:lnSpc>
                <a:spcPts val="4680"/>
              </a:lnSpc>
              <a:buFont typeface="Arial"/>
              <a:buChar char="⚬"/>
            </a:pPr>
            <a:r>
              <a:rPr lang="en-US" sz="3000">
                <a:solidFill>
                  <a:srgbClr val="000000"/>
                </a:solidFill>
                <a:latin typeface="Arial"/>
                <a:ea typeface="Arial"/>
                <a:cs typeface="Arial"/>
                <a:sym typeface="Arial"/>
              </a:rPr>
              <a:t>Tính cấp thiết của đề tài: Mọi SoC đa lõi hiện đại đều cần coherence; đây là kiến thức nền tảng của kiến trúc đa lõi.</a:t>
            </a:r>
          </a:p>
          <a:p>
            <a:pPr algn="l" marL="633416" indent="-316708" lvl="1">
              <a:lnSpc>
                <a:spcPts val="5460"/>
              </a:lnSpc>
              <a:buFont typeface="Arial"/>
              <a:buChar char="•"/>
            </a:pPr>
            <a:r>
              <a:rPr lang="en-US" b="true" sz="3500">
                <a:solidFill>
                  <a:srgbClr val="000000"/>
                </a:solidFill>
                <a:latin typeface="Arial Bold"/>
                <a:ea typeface="Arial Bold"/>
                <a:cs typeface="Arial Bold"/>
                <a:sym typeface="Arial Bold"/>
              </a:rPr>
              <a:t>Mục tiêu đề tài</a:t>
            </a:r>
          </a:p>
          <a:p>
            <a:pPr algn="l" marL="1114431" indent="-371477" lvl="2">
              <a:lnSpc>
                <a:spcPts val="4680"/>
              </a:lnSpc>
              <a:buFont typeface="Arial"/>
              <a:buChar char="⚬"/>
            </a:pPr>
            <a:r>
              <a:rPr lang="en-US" sz="3000">
                <a:solidFill>
                  <a:srgbClr val="000000"/>
                </a:solidFill>
                <a:latin typeface="Arial"/>
                <a:ea typeface="Arial"/>
                <a:cs typeface="Arial"/>
                <a:sym typeface="Arial"/>
              </a:rPr>
              <a:t>Nâng cấp data path từ shared-bus → hệ thống cache-coherent gồm (1) giao thức MESI dựa trên directory và (2) mạng crossbar cache–bank, tích hợp vào 2 lõi Ibex thật và kiểm chứng tính đúng đắn bằng mô phỏng.</a:t>
            </a:r>
          </a:p>
          <a:p>
            <a:pPr algn="l" marL="1337310" indent="-445770" lvl="2">
              <a:lnSpc>
                <a:spcPts val="5616"/>
              </a:lnSpc>
            </a:pPr>
          </a:p>
        </p:txBody>
      </p:sp>
      <p:grpSp>
        <p:nvGrpSpPr>
          <p:cNvPr name="Group 25" id="25"/>
          <p:cNvGrpSpPr/>
          <p:nvPr/>
        </p:nvGrpSpPr>
        <p:grpSpPr>
          <a:xfrm rot="0">
            <a:off x="6350346" y="9676895"/>
            <a:ext cx="6172200" cy="547688"/>
            <a:chOff x="0" y="0"/>
            <a:chExt cx="8229600" cy="730250"/>
          </a:xfrm>
        </p:grpSpPr>
        <p:sp>
          <p:nvSpPr>
            <p:cNvPr name="Freeform 26" id="26"/>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7">
                <a:alphaModFix amt="0"/>
              </a:blip>
              <a:stretch>
                <a:fillRect l="0" t="-169587" r="0" b="-169587"/>
              </a:stretch>
            </a:blipFill>
          </p:spPr>
        </p:sp>
        <p:sp>
          <p:nvSpPr>
            <p:cNvPr name="TextBox 27" id="27"/>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8" id="28"/>
          <p:cNvGrpSpPr/>
          <p:nvPr/>
        </p:nvGrpSpPr>
        <p:grpSpPr>
          <a:xfrm rot="0">
            <a:off x="15634421" y="9534525"/>
            <a:ext cx="4114800" cy="547688"/>
            <a:chOff x="0" y="0"/>
            <a:chExt cx="5486400" cy="730250"/>
          </a:xfrm>
        </p:grpSpPr>
        <p:sp>
          <p:nvSpPr>
            <p:cNvPr name="Freeform 29" id="29"/>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7">
                <a:alphaModFix amt="0"/>
              </a:blip>
              <a:stretch>
                <a:fillRect l="0" t="-96391" r="0" b="-96391"/>
              </a:stretch>
            </a:blipFill>
          </p:spPr>
        </p:sp>
        <p:sp>
          <p:nvSpPr>
            <p:cNvPr name="TextBox 30" id="30"/>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name="Group 3" id="3"/>
          <p:cNvGrpSpPr/>
          <p:nvPr/>
        </p:nvGrpSpPr>
        <p:grpSpPr>
          <a:xfrm rot="0">
            <a:off x="0" y="2124"/>
            <a:ext cx="18291715" cy="10295487"/>
            <a:chOff x="0" y="0"/>
            <a:chExt cx="24388953" cy="13727316"/>
          </a:xfrm>
        </p:grpSpPr>
        <p:sp>
          <p:nvSpPr>
            <p:cNvPr name="Freeform 4" id="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5" id="5"/>
          <p:cNvGrpSpPr/>
          <p:nvPr/>
        </p:nvGrpSpPr>
        <p:grpSpPr>
          <a:xfrm rot="0">
            <a:off x="-36214" y="0"/>
            <a:ext cx="6084589" cy="10287000"/>
            <a:chOff x="0" y="0"/>
            <a:chExt cx="8112785" cy="13716000"/>
          </a:xfrm>
        </p:grpSpPr>
        <p:sp>
          <p:nvSpPr>
            <p:cNvPr name="Freeform 6" id="6"/>
            <p:cNvSpPr/>
            <p:nvPr/>
          </p:nvSpPr>
          <p:spPr>
            <a:xfrm flipH="false" flipV="false" rot="0">
              <a:off x="0" y="0"/>
              <a:ext cx="8112760" cy="13716000"/>
            </a:xfrm>
            <a:custGeom>
              <a:avLst/>
              <a:gdLst/>
              <a:ahLst/>
              <a:cxnLst/>
              <a:rect r="r" b="b" t="t" l="l"/>
              <a:pathLst>
                <a:path h="13716000" w="8112760">
                  <a:moveTo>
                    <a:pt x="0" y="0"/>
                  </a:moveTo>
                  <a:lnTo>
                    <a:pt x="8112760" y="0"/>
                  </a:lnTo>
                  <a:lnTo>
                    <a:pt x="8112760" y="13716000"/>
                  </a:lnTo>
                  <a:lnTo>
                    <a:pt x="0" y="13716000"/>
                  </a:lnTo>
                  <a:close/>
                </a:path>
              </a:pathLst>
            </a:custGeom>
            <a:gradFill rotWithShape="true">
              <a:gsLst>
                <a:gs pos="0">
                  <a:srgbClr val="38EF7D">
                    <a:alpha val="100000"/>
                  </a:srgbClr>
                </a:gs>
                <a:gs pos="100000">
                  <a:srgbClr val="11998E">
                    <a:alpha val="100000"/>
                  </a:srgbClr>
                </a:gs>
              </a:gsLst>
              <a:lin ang="5400000"/>
            </a:gradFill>
          </p:spPr>
        </p:sp>
      </p:grpSp>
      <p:grpSp>
        <p:nvGrpSpPr>
          <p:cNvPr name="Group 7" id="7"/>
          <p:cNvGrpSpPr/>
          <p:nvPr/>
        </p:nvGrpSpPr>
        <p:grpSpPr>
          <a:xfrm rot="0">
            <a:off x="-46873" y="0"/>
            <a:ext cx="2707176" cy="10287000"/>
            <a:chOff x="0" y="0"/>
            <a:chExt cx="3609569" cy="13716000"/>
          </a:xfrm>
        </p:grpSpPr>
        <p:sp>
          <p:nvSpPr>
            <p:cNvPr name="Freeform 8" id="8"/>
            <p:cNvSpPr/>
            <p:nvPr/>
          </p:nvSpPr>
          <p:spPr>
            <a:xfrm flipH="false" flipV="true" rot="0">
              <a:off x="0" y="0"/>
              <a:ext cx="3609594" cy="13716000"/>
            </a:xfrm>
            <a:custGeom>
              <a:avLst/>
              <a:gdLst/>
              <a:ahLst/>
              <a:cxnLst/>
              <a:rect r="r" b="b" t="t" l="l"/>
              <a:pathLst>
                <a:path h="13716000" w="3609594">
                  <a:moveTo>
                    <a:pt x="0" y="0"/>
                  </a:moveTo>
                  <a:lnTo>
                    <a:pt x="3609594" y="0"/>
                  </a:lnTo>
                  <a:lnTo>
                    <a:pt x="3609594" y="13716000"/>
                  </a:lnTo>
                  <a:lnTo>
                    <a:pt x="0" y="13716000"/>
                  </a:lnTo>
                  <a:close/>
                </a:path>
              </a:pathLst>
            </a:custGeom>
            <a:blipFill>
              <a:blip r:embed="rId2"/>
              <a:stretch>
                <a:fillRect l="-2907" t="0" r="-2906" b="0"/>
              </a:stretch>
            </a:blipFill>
          </p:spPr>
        </p:sp>
      </p:grpSp>
      <p:sp>
        <p:nvSpPr>
          <p:cNvPr name="TextBox 9" id="9"/>
          <p:cNvSpPr txBox="true"/>
          <p:nvPr/>
        </p:nvSpPr>
        <p:spPr>
          <a:xfrm rot="-5400000">
            <a:off x="-2614688" y="6739452"/>
            <a:ext cx="6076721" cy="425920"/>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10" id="10"/>
          <p:cNvGrpSpPr/>
          <p:nvPr/>
        </p:nvGrpSpPr>
        <p:grpSpPr>
          <a:xfrm rot="0">
            <a:off x="6719973" y="293294"/>
            <a:ext cx="4848044" cy="957948"/>
            <a:chOff x="0" y="0"/>
            <a:chExt cx="6464059" cy="1277264"/>
          </a:xfrm>
        </p:grpSpPr>
        <p:sp>
          <p:nvSpPr>
            <p:cNvPr name="Freeform 11" id="11"/>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2" id="12"/>
          <p:cNvGrpSpPr/>
          <p:nvPr/>
        </p:nvGrpSpPr>
        <p:grpSpPr>
          <a:xfrm rot="0">
            <a:off x="6807460" y="371332"/>
            <a:ext cx="4673079" cy="801872"/>
            <a:chOff x="0" y="0"/>
            <a:chExt cx="6230772" cy="1069162"/>
          </a:xfrm>
        </p:grpSpPr>
        <p:sp>
          <p:nvSpPr>
            <p:cNvPr name="Freeform 13" id="13"/>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4" id="14"/>
          <p:cNvGrpSpPr/>
          <p:nvPr/>
        </p:nvGrpSpPr>
        <p:grpSpPr>
          <a:xfrm rot="0">
            <a:off x="9436446" y="197910"/>
            <a:ext cx="1163307" cy="1152592"/>
            <a:chOff x="0" y="0"/>
            <a:chExt cx="1551076" cy="1536789"/>
          </a:xfrm>
        </p:grpSpPr>
        <p:sp>
          <p:nvSpPr>
            <p:cNvPr name="Freeform 15" id="15"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6" id="16"/>
          <p:cNvGrpSpPr/>
          <p:nvPr/>
        </p:nvGrpSpPr>
        <p:grpSpPr>
          <a:xfrm rot="0">
            <a:off x="7688247" y="233439"/>
            <a:ext cx="1307516" cy="1081516"/>
            <a:chOff x="0" y="0"/>
            <a:chExt cx="1743354" cy="1442022"/>
          </a:xfrm>
        </p:grpSpPr>
        <p:sp>
          <p:nvSpPr>
            <p:cNvPr name="Freeform 17" id="17"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8" id="18"/>
          <p:cNvSpPr/>
          <p:nvPr/>
        </p:nvSpPr>
        <p:spPr>
          <a:xfrm flipH="false" flipV="false" rot="0">
            <a:off x="17262338" y="364607"/>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1705232" y="2175643"/>
            <a:ext cx="15315943" cy="6434480"/>
            <a:chOff x="0" y="0"/>
            <a:chExt cx="20421257" cy="8579307"/>
          </a:xfrm>
        </p:grpSpPr>
        <p:sp>
          <p:nvSpPr>
            <p:cNvPr name="Freeform 20" id="20"/>
            <p:cNvSpPr/>
            <p:nvPr/>
          </p:nvSpPr>
          <p:spPr>
            <a:xfrm flipH="false" flipV="false" rot="0">
              <a:off x="0" y="0"/>
              <a:ext cx="20421346" cy="8579358"/>
            </a:xfrm>
            <a:custGeom>
              <a:avLst/>
              <a:gdLst/>
              <a:ahLst/>
              <a:cxnLst/>
              <a:rect r="r" b="b" t="t" l="l"/>
              <a:pathLst>
                <a:path h="8579358" w="20421346">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7"/>
              <a:stretch>
                <a:fillRect l="-189" t="0" r="-189" b="0"/>
              </a:stretch>
            </a:blipFill>
          </p:spPr>
        </p:sp>
      </p:grpSp>
      <p:grpSp>
        <p:nvGrpSpPr>
          <p:cNvPr name="Group 21" id="21"/>
          <p:cNvGrpSpPr/>
          <p:nvPr/>
        </p:nvGrpSpPr>
        <p:grpSpPr>
          <a:xfrm rot="0">
            <a:off x="1705232" y="2175643"/>
            <a:ext cx="15315943" cy="6434480"/>
            <a:chOff x="0" y="0"/>
            <a:chExt cx="20421257" cy="8579307"/>
          </a:xfrm>
        </p:grpSpPr>
        <p:sp>
          <p:nvSpPr>
            <p:cNvPr name="Freeform 22" id="22"/>
            <p:cNvSpPr/>
            <p:nvPr/>
          </p:nvSpPr>
          <p:spPr>
            <a:xfrm flipH="false" flipV="false" rot="0">
              <a:off x="0" y="0"/>
              <a:ext cx="20421346" cy="8579358"/>
            </a:xfrm>
            <a:custGeom>
              <a:avLst/>
              <a:gdLst/>
              <a:ahLst/>
              <a:cxnLst/>
              <a:rect r="r" b="b" t="t" l="l"/>
              <a:pathLst>
                <a:path h="8579358" w="20421346">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true">
              <a:gsLst>
                <a:gs pos="0">
                  <a:srgbClr val="38EF7D">
                    <a:alpha val="40000"/>
                  </a:srgbClr>
                </a:gs>
                <a:gs pos="100000">
                  <a:srgbClr val="11998E">
                    <a:alpha val="40000"/>
                  </a:srgbClr>
                </a:gs>
              </a:gsLst>
              <a:lin ang="4032715"/>
            </a:gradFill>
          </p:spPr>
        </p:sp>
      </p:grpSp>
      <p:grpSp>
        <p:nvGrpSpPr>
          <p:cNvPr name="Group 23" id="23"/>
          <p:cNvGrpSpPr/>
          <p:nvPr/>
        </p:nvGrpSpPr>
        <p:grpSpPr>
          <a:xfrm rot="0">
            <a:off x="0" y="2124"/>
            <a:ext cx="18291715" cy="10295487"/>
            <a:chOff x="0" y="0"/>
            <a:chExt cx="24388953" cy="13727316"/>
          </a:xfrm>
        </p:grpSpPr>
        <p:sp>
          <p:nvSpPr>
            <p:cNvPr name="Freeform 24" id="2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5" id="25"/>
          <p:cNvGrpSpPr/>
          <p:nvPr/>
        </p:nvGrpSpPr>
        <p:grpSpPr>
          <a:xfrm rot="0">
            <a:off x="10848975" y="9534525"/>
            <a:ext cx="6172200" cy="547688"/>
            <a:chOff x="0" y="0"/>
            <a:chExt cx="8229600" cy="730250"/>
          </a:xfrm>
        </p:grpSpPr>
        <p:sp>
          <p:nvSpPr>
            <p:cNvPr name="Freeform 26" id="26"/>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8">
                <a:alphaModFix amt="0"/>
              </a:blip>
              <a:stretch>
                <a:fillRect l="0" t="-169587" r="0" b="-169587"/>
              </a:stretch>
            </a:blipFill>
          </p:spPr>
        </p:sp>
        <p:sp>
          <p:nvSpPr>
            <p:cNvPr name="TextBox 27" id="27"/>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8" id="28"/>
          <p:cNvGrpSpPr/>
          <p:nvPr/>
        </p:nvGrpSpPr>
        <p:grpSpPr>
          <a:xfrm rot="0">
            <a:off x="15614542" y="498424"/>
            <a:ext cx="4114800" cy="547688"/>
            <a:chOff x="0" y="0"/>
            <a:chExt cx="5486400" cy="730250"/>
          </a:xfrm>
        </p:grpSpPr>
        <p:sp>
          <p:nvSpPr>
            <p:cNvPr name="Freeform 29" id="29"/>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8">
                <a:alphaModFix amt="0"/>
              </a:blip>
              <a:stretch>
                <a:fillRect l="0" t="-96391" r="0" b="-96391"/>
              </a:stretch>
            </a:blipFill>
          </p:spPr>
        </p:sp>
        <p:sp>
          <p:nvSpPr>
            <p:cNvPr name="TextBox 30" id="30"/>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5</a:t>
              </a:r>
            </a:p>
          </p:txBody>
        </p:sp>
      </p:grpSp>
      <p:grpSp>
        <p:nvGrpSpPr>
          <p:cNvPr name="Group 31" id="31"/>
          <p:cNvGrpSpPr/>
          <p:nvPr/>
        </p:nvGrpSpPr>
        <p:grpSpPr>
          <a:xfrm rot="0">
            <a:off x="2480043" y="3638074"/>
            <a:ext cx="13766321" cy="2258930"/>
            <a:chOff x="0" y="0"/>
            <a:chExt cx="18355094" cy="3011907"/>
          </a:xfrm>
        </p:grpSpPr>
        <p:sp>
          <p:nvSpPr>
            <p:cNvPr name="Freeform 32" id="32"/>
            <p:cNvSpPr/>
            <p:nvPr/>
          </p:nvSpPr>
          <p:spPr>
            <a:xfrm flipH="false" flipV="false" rot="0">
              <a:off x="0" y="0"/>
              <a:ext cx="18355097" cy="3011906"/>
            </a:xfrm>
            <a:custGeom>
              <a:avLst/>
              <a:gdLst/>
              <a:ahLst/>
              <a:cxnLst/>
              <a:rect r="r" b="b" t="t" l="l"/>
              <a:pathLst>
                <a:path h="3011906" w="18355097">
                  <a:moveTo>
                    <a:pt x="0" y="0"/>
                  </a:moveTo>
                  <a:lnTo>
                    <a:pt x="18355097" y="0"/>
                  </a:lnTo>
                  <a:lnTo>
                    <a:pt x="18355097" y="3011906"/>
                  </a:lnTo>
                  <a:lnTo>
                    <a:pt x="0" y="3011906"/>
                  </a:lnTo>
                  <a:close/>
                </a:path>
              </a:pathLst>
            </a:custGeom>
            <a:blipFill>
              <a:blip r:embed="rId8">
                <a:alphaModFix amt="0"/>
              </a:blip>
              <a:stretch>
                <a:fillRect l="0" t="-68745" r="0" b="-68745"/>
              </a:stretch>
            </a:blipFill>
          </p:spPr>
        </p:sp>
        <p:sp>
          <p:nvSpPr>
            <p:cNvPr name="TextBox 33" id="33"/>
            <p:cNvSpPr txBox="true"/>
            <p:nvPr/>
          </p:nvSpPr>
          <p:spPr>
            <a:xfrm>
              <a:off x="0" y="38100"/>
              <a:ext cx="18355094" cy="2973807"/>
            </a:xfrm>
            <a:prstGeom prst="rect">
              <a:avLst/>
            </a:prstGeom>
          </p:spPr>
          <p:txBody>
            <a:bodyPr anchor="ctr" rtlCol="false" tIns="0" lIns="0" bIns="0" rIns="0"/>
            <a:lstStyle/>
            <a:p>
              <a:pPr algn="l">
                <a:lnSpc>
                  <a:spcPts val="7873"/>
                </a:lnSpc>
              </a:pPr>
              <a:r>
                <a:rPr lang="en-US" sz="7290" b="true">
                  <a:solidFill>
                    <a:srgbClr val="FFFFFF"/>
                  </a:solidFill>
                  <a:latin typeface="Times New Roman Bold"/>
                  <a:ea typeface="Times New Roman Bold"/>
                  <a:cs typeface="Times New Roman Bold"/>
                  <a:sym typeface="Times New Roman Bold"/>
                </a:rPr>
                <a:t>GIẢI PHÁP ĐỀ XUẤT</a:t>
              </a:r>
            </a:p>
            <a:p>
              <a:pPr algn="l">
                <a:lnSpc>
                  <a:spcPts val="7873"/>
                </a:lnSpc>
              </a:pPr>
              <a:r>
                <a:rPr lang="en-US" sz="7290" b="true">
                  <a:solidFill>
                    <a:srgbClr val="FFFFFF"/>
                  </a:solidFill>
                  <a:latin typeface="Times New Roman Bold"/>
                  <a:ea typeface="Times New Roman Bold"/>
                  <a:cs typeface="Times New Roman Bold"/>
                  <a:sym typeface="Times New Roman Bold"/>
                </a:rPr>
                <a:t>CỦA ĐỀ TÀI</a:t>
              </a:r>
            </a:p>
          </p:txBody>
        </p:sp>
      </p:grpSp>
      <p:sp>
        <p:nvSpPr>
          <p:cNvPr name="TextBox 34" id="34"/>
          <p:cNvSpPr txBox="true"/>
          <p:nvPr/>
        </p:nvSpPr>
        <p:spPr>
          <a:xfrm rot="0">
            <a:off x="2571483" y="1020985"/>
            <a:ext cx="2896076" cy="2454116"/>
          </a:xfrm>
          <a:prstGeom prst="rect">
            <a:avLst/>
          </a:prstGeom>
        </p:spPr>
        <p:txBody>
          <a:bodyPr anchor="t" rtlCol="false" tIns="0" lIns="0" bIns="0" rIns="0">
            <a:spAutoFit/>
          </a:bodyPr>
          <a:lstStyle/>
          <a:p>
            <a:pPr algn="l">
              <a:lnSpc>
                <a:spcPts val="18630"/>
              </a:lnSpc>
            </a:pPr>
            <a:r>
              <a:rPr lang="en-US" sz="17250" b="true">
                <a:solidFill>
                  <a:srgbClr val="FFFFFF">
                    <a:alpha val="65098"/>
                  </a:srgbClr>
                </a:solidFill>
                <a:latin typeface="Arial Bold"/>
                <a:ea typeface="Arial Bold"/>
                <a:cs typeface="Arial Bold"/>
                <a:sym typeface="Arial Bold"/>
              </a:rPr>
              <a:t>02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name="Group 3" id="3"/>
          <p:cNvGrpSpPr/>
          <p:nvPr/>
        </p:nvGrpSpPr>
        <p:grpSpPr>
          <a:xfrm rot="0">
            <a:off x="0" y="2124"/>
            <a:ext cx="18291715" cy="10295487"/>
            <a:chOff x="0" y="0"/>
            <a:chExt cx="24388953" cy="13727316"/>
          </a:xfrm>
        </p:grpSpPr>
        <p:sp>
          <p:nvSpPr>
            <p:cNvPr name="Freeform 4" id="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5" id="5"/>
          <p:cNvGrpSpPr/>
          <p:nvPr/>
        </p:nvGrpSpPr>
        <p:grpSpPr>
          <a:xfrm rot="5400000">
            <a:off x="8668474" y="-8670065"/>
            <a:ext cx="947328" cy="18291715"/>
            <a:chOff x="0" y="0"/>
            <a:chExt cx="1263104" cy="24388953"/>
          </a:xfrm>
        </p:grpSpPr>
        <p:sp>
          <p:nvSpPr>
            <p:cNvPr name="Freeform 6" id="6"/>
            <p:cNvSpPr/>
            <p:nvPr/>
          </p:nvSpPr>
          <p:spPr>
            <a:xfrm flipH="false" flipV="fals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gradFill rotWithShape="true">
              <a:gsLst>
                <a:gs pos="0">
                  <a:srgbClr val="10CD57">
                    <a:alpha val="100000"/>
                  </a:srgbClr>
                </a:gs>
                <a:gs pos="100000">
                  <a:srgbClr val="027159">
                    <a:alpha val="100000"/>
                  </a:srgbClr>
                </a:gs>
              </a:gsLst>
              <a:lin ang="0"/>
            </a:gradFill>
          </p:spPr>
        </p:sp>
      </p:grpSp>
      <p:grpSp>
        <p:nvGrpSpPr>
          <p:cNvPr name="Group 7" id="7"/>
          <p:cNvGrpSpPr/>
          <p:nvPr/>
        </p:nvGrpSpPr>
        <p:grpSpPr>
          <a:xfrm rot="5400000">
            <a:off x="8670331" y="-8672198"/>
            <a:ext cx="947328" cy="18291715"/>
            <a:chOff x="0" y="0"/>
            <a:chExt cx="1263104" cy="24388953"/>
          </a:xfrm>
        </p:grpSpPr>
        <p:sp>
          <p:nvSpPr>
            <p:cNvPr name="Freeform 8" id="8"/>
            <p:cNvSpPr/>
            <p:nvPr/>
          </p:nvSpPr>
          <p:spPr>
            <a:xfrm flipH="false" flipV="tru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blipFill>
              <a:blip r:embed="rId2"/>
              <a:stretch>
                <a:fillRect l="-35093" t="0" r="-35090" b="0"/>
              </a:stretch>
            </a:blipFill>
          </p:spPr>
        </p:sp>
      </p:grpSp>
      <p:sp>
        <p:nvSpPr>
          <p:cNvPr name="TextBox 9" id="9"/>
          <p:cNvSpPr txBox="true"/>
          <p:nvPr/>
        </p:nvSpPr>
        <p:spPr>
          <a:xfrm rot="0">
            <a:off x="451866" y="248326"/>
            <a:ext cx="10947559" cy="424158"/>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10" id="10"/>
          <p:cNvGrpSpPr/>
          <p:nvPr/>
        </p:nvGrpSpPr>
        <p:grpSpPr>
          <a:xfrm rot="0">
            <a:off x="6719973" y="457933"/>
            <a:ext cx="4848044" cy="957948"/>
            <a:chOff x="0" y="0"/>
            <a:chExt cx="6464059" cy="1277264"/>
          </a:xfrm>
        </p:grpSpPr>
        <p:sp>
          <p:nvSpPr>
            <p:cNvPr name="Freeform 11" id="11"/>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2" id="12"/>
          <p:cNvGrpSpPr/>
          <p:nvPr/>
        </p:nvGrpSpPr>
        <p:grpSpPr>
          <a:xfrm rot="0">
            <a:off x="6807460" y="535962"/>
            <a:ext cx="4673079" cy="801872"/>
            <a:chOff x="0" y="0"/>
            <a:chExt cx="6230772" cy="1069162"/>
          </a:xfrm>
        </p:grpSpPr>
        <p:sp>
          <p:nvSpPr>
            <p:cNvPr name="Freeform 13" id="13"/>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4" id="14"/>
          <p:cNvGrpSpPr/>
          <p:nvPr/>
        </p:nvGrpSpPr>
        <p:grpSpPr>
          <a:xfrm rot="0">
            <a:off x="9436446" y="362541"/>
            <a:ext cx="1163307" cy="1152592"/>
            <a:chOff x="0" y="0"/>
            <a:chExt cx="1551076" cy="1536789"/>
          </a:xfrm>
        </p:grpSpPr>
        <p:sp>
          <p:nvSpPr>
            <p:cNvPr name="Freeform 15" id="15"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6" id="16"/>
          <p:cNvGrpSpPr/>
          <p:nvPr/>
        </p:nvGrpSpPr>
        <p:grpSpPr>
          <a:xfrm rot="0">
            <a:off x="7688247" y="398078"/>
            <a:ext cx="1307516" cy="1081516"/>
            <a:chOff x="0" y="0"/>
            <a:chExt cx="1743354" cy="1442022"/>
          </a:xfrm>
        </p:grpSpPr>
        <p:sp>
          <p:nvSpPr>
            <p:cNvPr name="Freeform 17" id="17"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8" id="18"/>
          <p:cNvSpPr/>
          <p:nvPr/>
        </p:nvSpPr>
        <p:spPr>
          <a:xfrm flipH="false" flipV="false" rot="0">
            <a:off x="17262338" y="9405385"/>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0" y="2124"/>
            <a:ext cx="18291715" cy="10295487"/>
            <a:chOff x="0" y="0"/>
            <a:chExt cx="24388953" cy="13727316"/>
          </a:xfrm>
        </p:grpSpPr>
        <p:sp>
          <p:nvSpPr>
            <p:cNvPr name="Freeform 20" id="20"/>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1" id="21"/>
          <p:cNvGrpSpPr/>
          <p:nvPr/>
        </p:nvGrpSpPr>
        <p:grpSpPr>
          <a:xfrm rot="0">
            <a:off x="908999" y="1555147"/>
            <a:ext cx="16470001" cy="1335996"/>
            <a:chOff x="0" y="0"/>
            <a:chExt cx="21960002" cy="1781327"/>
          </a:xfrm>
        </p:grpSpPr>
        <p:sp>
          <p:nvSpPr>
            <p:cNvPr name="Freeform 22" id="22"/>
            <p:cNvSpPr/>
            <p:nvPr/>
          </p:nvSpPr>
          <p:spPr>
            <a:xfrm flipH="false" flipV="false" rot="0">
              <a:off x="0" y="0"/>
              <a:ext cx="21960001" cy="1781326"/>
            </a:xfrm>
            <a:custGeom>
              <a:avLst/>
              <a:gdLst/>
              <a:ahLst/>
              <a:cxnLst/>
              <a:rect r="r" b="b" t="t" l="l"/>
              <a:pathLst>
                <a:path h="1781326" w="21960001">
                  <a:moveTo>
                    <a:pt x="0" y="0"/>
                  </a:moveTo>
                  <a:lnTo>
                    <a:pt x="21960001" y="0"/>
                  </a:lnTo>
                  <a:lnTo>
                    <a:pt x="21960001" y="1781326"/>
                  </a:lnTo>
                  <a:lnTo>
                    <a:pt x="0" y="1781326"/>
                  </a:lnTo>
                  <a:close/>
                </a:path>
              </a:pathLst>
            </a:custGeom>
            <a:blipFill>
              <a:blip r:embed="rId7">
                <a:alphaModFix amt="0"/>
              </a:blip>
              <a:stretch>
                <a:fillRect l="0" t="-190209" r="0" b="-190209"/>
              </a:stretch>
            </a:blipFill>
          </p:spPr>
        </p:sp>
        <p:sp>
          <p:nvSpPr>
            <p:cNvPr name="TextBox 23" id="23"/>
            <p:cNvSpPr txBox="true"/>
            <p:nvPr/>
          </p:nvSpPr>
          <p:spPr>
            <a:xfrm>
              <a:off x="0" y="38100"/>
              <a:ext cx="21960002" cy="1743227"/>
            </a:xfrm>
            <a:prstGeom prst="rect">
              <a:avLst/>
            </a:prstGeom>
          </p:spPr>
          <p:txBody>
            <a:bodyPr anchor="ctr" rtlCol="false" tIns="0" lIns="0" bIns="0" rIns="0"/>
            <a:lstStyle/>
            <a:p>
              <a:pPr algn="l">
                <a:lnSpc>
                  <a:spcPts val="7128"/>
                </a:lnSpc>
              </a:pPr>
              <a:r>
                <a:rPr lang="en-US" b="true" sz="660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2. Giải pháp đề xuất của đề tài</a:t>
              </a:r>
            </a:p>
          </p:txBody>
        </p:sp>
      </p:grpSp>
      <p:sp>
        <p:nvSpPr>
          <p:cNvPr name="TextBox 24" id="24"/>
          <p:cNvSpPr txBox="true"/>
          <p:nvPr/>
        </p:nvSpPr>
        <p:spPr>
          <a:xfrm rot="0">
            <a:off x="1000439" y="2725541"/>
            <a:ext cx="16287121" cy="4223384"/>
          </a:xfrm>
          <a:prstGeom prst="rect">
            <a:avLst/>
          </a:prstGeom>
        </p:spPr>
        <p:txBody>
          <a:bodyPr anchor="t" rtlCol="false" tIns="0" lIns="0" bIns="0" rIns="0">
            <a:spAutoFit/>
          </a:bodyPr>
          <a:lstStyle/>
          <a:p>
            <a:pPr algn="just" marL="633416" indent="-316708" lvl="1">
              <a:lnSpc>
                <a:spcPts val="5460"/>
              </a:lnSpc>
              <a:buFont typeface="Arial"/>
              <a:buChar char="•"/>
            </a:pPr>
            <a:r>
              <a:rPr lang="en-US" b="true" sz="3500">
                <a:solidFill>
                  <a:srgbClr val="000000"/>
                </a:solidFill>
                <a:latin typeface="Arial Bold"/>
                <a:ea typeface="Arial Bold"/>
                <a:cs typeface="Arial Bold"/>
                <a:sym typeface="Arial Bold"/>
              </a:rPr>
              <a:t>Phân tích lý thuyết của giải pháp đề xuất</a:t>
            </a:r>
          </a:p>
          <a:p>
            <a:pPr algn="just" marL="647706" indent="-323853" lvl="1">
              <a:lnSpc>
                <a:spcPts val="4680"/>
              </a:lnSpc>
              <a:buFont typeface="Arial"/>
              <a:buChar char="•"/>
            </a:pPr>
            <a:r>
              <a:rPr lang="en-US" b="true" sz="3000">
                <a:solidFill>
                  <a:srgbClr val="000000"/>
                </a:solidFill>
                <a:latin typeface="Arial Bold"/>
                <a:ea typeface="Arial Bold"/>
                <a:cs typeface="Arial Bold"/>
                <a:sym typeface="Arial Bold"/>
              </a:rPr>
              <a:t>Giao thức MESI:</a:t>
            </a:r>
            <a:r>
              <a:rPr lang="en-US" sz="3000">
                <a:solidFill>
                  <a:srgbClr val="000000"/>
                </a:solidFill>
                <a:latin typeface="Arial"/>
                <a:ea typeface="Arial"/>
                <a:cs typeface="Arial"/>
                <a:sym typeface="Arial"/>
              </a:rPr>
              <a:t> 4 trạng thái line — Modified / Exclusive / Shared / Invalid. Cho phép nhiều core cùng đọc (S), độc quyền khi ghi (M/E).</a:t>
            </a:r>
          </a:p>
          <a:p>
            <a:pPr algn="just" marL="647706" indent="-323853" lvl="1">
              <a:lnSpc>
                <a:spcPts val="4680"/>
              </a:lnSpc>
              <a:buFont typeface="Arial"/>
              <a:buChar char="•"/>
            </a:pPr>
            <a:r>
              <a:rPr lang="en-US" b="true" sz="3000">
                <a:solidFill>
                  <a:srgbClr val="000000"/>
                </a:solidFill>
                <a:latin typeface="Arial Bold"/>
                <a:ea typeface="Arial Bold"/>
                <a:cs typeface="Arial Bold"/>
                <a:sym typeface="Arial Bold"/>
              </a:rPr>
              <a:t>Directory-based:</a:t>
            </a:r>
            <a:r>
              <a:rPr lang="en-US" sz="3000">
                <a:solidFill>
                  <a:srgbClr val="000000"/>
                </a:solidFill>
                <a:latin typeface="Arial"/>
                <a:ea typeface="Arial"/>
                <a:cs typeface="Arial"/>
                <a:sym typeface="Arial"/>
              </a:rPr>
              <a:t> directory lưu trạng thái mỗi memory line (DIR_U / DIR_S / DIR_EM) + vector sharer, tuần tự hóa quyền sở hữu thay cho snooping-bus → mở rộng được khi tăng số core.</a:t>
            </a:r>
          </a:p>
          <a:p>
            <a:pPr algn="just" marL="647706" indent="-323853" lvl="1">
              <a:lnSpc>
                <a:spcPts val="4680"/>
              </a:lnSpc>
              <a:buFont typeface="Arial"/>
              <a:buChar char="•"/>
            </a:pPr>
            <a:r>
              <a:rPr lang="en-US" b="true" sz="3000">
                <a:solidFill>
                  <a:srgbClr val="000000"/>
                </a:solidFill>
                <a:latin typeface="Arial Bold"/>
                <a:ea typeface="Arial Bold"/>
                <a:cs typeface="Arial Bold"/>
                <a:sym typeface="Arial Bold"/>
              </a:rPr>
              <a:t>Ý tưởng then chốt — tách 2 mạng:</a:t>
            </a:r>
          </a:p>
        </p:txBody>
      </p:sp>
      <p:grpSp>
        <p:nvGrpSpPr>
          <p:cNvPr name="Group 25" id="25"/>
          <p:cNvGrpSpPr/>
          <p:nvPr/>
        </p:nvGrpSpPr>
        <p:grpSpPr>
          <a:xfrm rot="0">
            <a:off x="6350346" y="9808369"/>
            <a:ext cx="6172200" cy="547688"/>
            <a:chOff x="0" y="0"/>
            <a:chExt cx="8229600" cy="730250"/>
          </a:xfrm>
        </p:grpSpPr>
        <p:sp>
          <p:nvSpPr>
            <p:cNvPr name="Freeform 26" id="26"/>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7">
                <a:alphaModFix amt="0"/>
              </a:blip>
              <a:stretch>
                <a:fillRect l="0" t="-169587" r="0" b="-169587"/>
              </a:stretch>
            </a:blipFill>
          </p:spPr>
        </p:sp>
        <p:sp>
          <p:nvSpPr>
            <p:cNvPr name="TextBox 27" id="27"/>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8" id="28"/>
          <p:cNvGrpSpPr/>
          <p:nvPr/>
        </p:nvGrpSpPr>
        <p:grpSpPr>
          <a:xfrm rot="0">
            <a:off x="15634421" y="9534525"/>
            <a:ext cx="4114800" cy="547688"/>
            <a:chOff x="0" y="0"/>
            <a:chExt cx="5486400" cy="730250"/>
          </a:xfrm>
        </p:grpSpPr>
        <p:sp>
          <p:nvSpPr>
            <p:cNvPr name="Freeform 29" id="29"/>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7">
                <a:alphaModFix amt="0"/>
              </a:blip>
              <a:stretch>
                <a:fillRect l="0" t="-96391" r="0" b="-96391"/>
              </a:stretch>
            </a:blipFill>
          </p:spPr>
        </p:sp>
        <p:sp>
          <p:nvSpPr>
            <p:cNvPr name="TextBox 30" id="30"/>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6</a:t>
              </a:r>
            </a:p>
          </p:txBody>
        </p:sp>
      </p:grpSp>
      <p:sp>
        <p:nvSpPr>
          <p:cNvPr name="TextBox 31" id="31"/>
          <p:cNvSpPr txBox="true"/>
          <p:nvPr/>
        </p:nvSpPr>
        <p:spPr>
          <a:xfrm rot="0">
            <a:off x="1874539" y="7015600"/>
            <a:ext cx="16287121" cy="904875"/>
          </a:xfrm>
          <a:prstGeom prst="rect">
            <a:avLst/>
          </a:prstGeom>
        </p:spPr>
        <p:txBody>
          <a:bodyPr anchor="t" rtlCol="false" tIns="0" lIns="0" bIns="0" rIns="0">
            <a:spAutoFit/>
          </a:bodyPr>
          <a:lstStyle/>
          <a:p>
            <a:pPr algn="l" marL="647694" indent="-323847" lvl="1">
              <a:lnSpc>
                <a:spcPts val="3599"/>
              </a:lnSpc>
              <a:spcBef>
                <a:spcPct val="0"/>
              </a:spcBef>
              <a:buFont typeface="Arial"/>
              <a:buChar char="•"/>
            </a:pPr>
            <a:r>
              <a:rPr lang="en-US" sz="2999">
                <a:solidFill>
                  <a:srgbClr val="000000"/>
                </a:solidFill>
                <a:latin typeface="Arial"/>
                <a:ea typeface="Arial"/>
                <a:cs typeface="Arial"/>
                <a:sym typeface="Arial"/>
              </a:rPr>
              <a:t>Mạng permission (cache ↔ directory): chỉ mang lệnh quyền — GETS/GETM/PUTM, INV/FWD_GETS/RECALL, ACK. Directory không giữ data.</a:t>
            </a:r>
          </a:p>
        </p:txBody>
      </p:sp>
      <p:sp>
        <p:nvSpPr>
          <p:cNvPr name="TextBox 32" id="32"/>
          <p:cNvSpPr txBox="true"/>
          <p:nvPr/>
        </p:nvSpPr>
        <p:spPr>
          <a:xfrm rot="0">
            <a:off x="1850936" y="8053825"/>
            <a:ext cx="16230600" cy="904875"/>
          </a:xfrm>
          <a:prstGeom prst="rect">
            <a:avLst/>
          </a:prstGeom>
        </p:spPr>
        <p:txBody>
          <a:bodyPr anchor="t" rtlCol="false" tIns="0" lIns="0" bIns="0" rIns="0">
            <a:spAutoFit/>
          </a:bodyPr>
          <a:lstStyle/>
          <a:p>
            <a:pPr algn="l" marL="647694" indent="-323847" lvl="1">
              <a:lnSpc>
                <a:spcPts val="3599"/>
              </a:lnSpc>
              <a:spcBef>
                <a:spcPct val="0"/>
              </a:spcBef>
              <a:buFont typeface="Arial"/>
              <a:buChar char="•"/>
            </a:pPr>
            <a:r>
              <a:rPr lang="en-US" sz="2999">
                <a:solidFill>
                  <a:srgbClr val="000000"/>
                </a:solidFill>
                <a:latin typeface="Arial"/>
                <a:ea typeface="Arial"/>
                <a:cs typeface="Arial"/>
                <a:sym typeface="Arial"/>
              </a:rPr>
              <a:t>Mạng data (cache ↔ bank qua crossbar): truyền nguyên một cache line 128-bit khi fill/writeback.</a:t>
            </a:r>
          </a:p>
        </p:txBody>
      </p:sp>
      <p:sp>
        <p:nvSpPr>
          <p:cNvPr name="TextBox 33" id="33"/>
          <p:cNvSpPr txBox="true"/>
          <p:nvPr/>
        </p:nvSpPr>
        <p:spPr>
          <a:xfrm rot="0">
            <a:off x="1028700" y="8987275"/>
            <a:ext cx="17172537" cy="904875"/>
          </a:xfrm>
          <a:prstGeom prst="rect">
            <a:avLst/>
          </a:prstGeom>
        </p:spPr>
        <p:txBody>
          <a:bodyPr anchor="t" rtlCol="false" tIns="0" lIns="0" bIns="0" rIns="0">
            <a:spAutoFit/>
          </a:bodyPr>
          <a:lstStyle/>
          <a:p>
            <a:pPr algn="just" marL="647694" indent="-323847" lvl="1">
              <a:lnSpc>
                <a:spcPts val="3599"/>
              </a:lnSpc>
              <a:buFont typeface="Arial"/>
              <a:buChar char="•"/>
            </a:pPr>
            <a:r>
              <a:rPr lang="en-US" sz="2999">
                <a:solidFill>
                  <a:srgbClr val="000000"/>
                </a:solidFill>
                <a:latin typeface="Arial"/>
                <a:ea typeface="Arial"/>
                <a:cs typeface="Arial"/>
                <a:sym typeface="Arial"/>
              </a:rPr>
              <a:t>3 nhóm message đóng kín một giao dịch: Request (cache→dir) → Command/Data (dir→cache) → Response (cache→dir), tránh treo directory ở transient state.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124"/>
            <a:ext cx="18291715" cy="10295487"/>
            <a:chOff x="0" y="0"/>
            <a:chExt cx="24388953" cy="13727316"/>
          </a:xfrm>
        </p:grpSpPr>
        <p:sp>
          <p:nvSpPr>
            <p:cNvPr name="Freeform 3" id="3"/>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4" id="4"/>
          <p:cNvGrpSpPr/>
          <p:nvPr/>
        </p:nvGrpSpPr>
        <p:grpSpPr>
          <a:xfrm rot="5400000">
            <a:off x="8668474" y="-8670065"/>
            <a:ext cx="947328" cy="18291715"/>
            <a:chOff x="0" y="0"/>
            <a:chExt cx="1263104" cy="24388953"/>
          </a:xfrm>
        </p:grpSpPr>
        <p:sp>
          <p:nvSpPr>
            <p:cNvPr name="Freeform 5" id="5"/>
            <p:cNvSpPr/>
            <p:nvPr/>
          </p:nvSpPr>
          <p:spPr>
            <a:xfrm flipH="false" flipV="fals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gradFill rotWithShape="true">
              <a:gsLst>
                <a:gs pos="0">
                  <a:srgbClr val="10CD57">
                    <a:alpha val="100000"/>
                  </a:srgbClr>
                </a:gs>
                <a:gs pos="100000">
                  <a:srgbClr val="027159">
                    <a:alpha val="100000"/>
                  </a:srgbClr>
                </a:gs>
              </a:gsLst>
              <a:lin ang="0"/>
            </a:gradFill>
          </p:spPr>
        </p:sp>
      </p:grpSp>
      <p:grpSp>
        <p:nvGrpSpPr>
          <p:cNvPr name="Group 6" id="6"/>
          <p:cNvGrpSpPr/>
          <p:nvPr/>
        </p:nvGrpSpPr>
        <p:grpSpPr>
          <a:xfrm rot="5400000">
            <a:off x="8670331" y="-8672198"/>
            <a:ext cx="947328" cy="18291715"/>
            <a:chOff x="0" y="0"/>
            <a:chExt cx="1263104" cy="24388953"/>
          </a:xfrm>
        </p:grpSpPr>
        <p:sp>
          <p:nvSpPr>
            <p:cNvPr name="Freeform 7" id="7"/>
            <p:cNvSpPr/>
            <p:nvPr/>
          </p:nvSpPr>
          <p:spPr>
            <a:xfrm flipH="false" flipV="tru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blipFill>
              <a:blip r:embed="rId2"/>
              <a:stretch>
                <a:fillRect l="-35093" t="0" r="-35090" b="0"/>
              </a:stretch>
            </a:blipFill>
          </p:spPr>
        </p:sp>
      </p:grpSp>
      <p:sp>
        <p:nvSpPr>
          <p:cNvPr name="TextBox 8" id="8"/>
          <p:cNvSpPr txBox="true"/>
          <p:nvPr/>
        </p:nvSpPr>
        <p:spPr>
          <a:xfrm rot="0">
            <a:off x="451866" y="248326"/>
            <a:ext cx="10947559" cy="424158"/>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9" id="9"/>
          <p:cNvGrpSpPr/>
          <p:nvPr/>
        </p:nvGrpSpPr>
        <p:grpSpPr>
          <a:xfrm rot="0">
            <a:off x="6719973" y="457933"/>
            <a:ext cx="4848044" cy="957948"/>
            <a:chOff x="0" y="0"/>
            <a:chExt cx="6464059" cy="1277264"/>
          </a:xfrm>
        </p:grpSpPr>
        <p:sp>
          <p:nvSpPr>
            <p:cNvPr name="Freeform 10" id="10"/>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1" id="11"/>
          <p:cNvGrpSpPr/>
          <p:nvPr/>
        </p:nvGrpSpPr>
        <p:grpSpPr>
          <a:xfrm rot="0">
            <a:off x="6807460" y="535962"/>
            <a:ext cx="4673079" cy="801872"/>
            <a:chOff x="0" y="0"/>
            <a:chExt cx="6230772" cy="1069162"/>
          </a:xfrm>
        </p:grpSpPr>
        <p:sp>
          <p:nvSpPr>
            <p:cNvPr name="Freeform 12" id="12"/>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3" id="13"/>
          <p:cNvGrpSpPr/>
          <p:nvPr/>
        </p:nvGrpSpPr>
        <p:grpSpPr>
          <a:xfrm rot="0">
            <a:off x="9436446" y="362541"/>
            <a:ext cx="1163307" cy="1152592"/>
            <a:chOff x="0" y="0"/>
            <a:chExt cx="1551076" cy="1536789"/>
          </a:xfrm>
        </p:grpSpPr>
        <p:sp>
          <p:nvSpPr>
            <p:cNvPr name="Freeform 14" id="14"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5" id="15"/>
          <p:cNvGrpSpPr/>
          <p:nvPr/>
        </p:nvGrpSpPr>
        <p:grpSpPr>
          <a:xfrm rot="0">
            <a:off x="7688247" y="398078"/>
            <a:ext cx="1307516" cy="1081516"/>
            <a:chOff x="0" y="0"/>
            <a:chExt cx="1743354" cy="1442022"/>
          </a:xfrm>
        </p:grpSpPr>
        <p:sp>
          <p:nvSpPr>
            <p:cNvPr name="Freeform 16" id="16"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7" id="17"/>
          <p:cNvSpPr/>
          <p:nvPr/>
        </p:nvSpPr>
        <p:spPr>
          <a:xfrm flipH="false" flipV="false" rot="0">
            <a:off x="17262338" y="9405385"/>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8" id="18"/>
          <p:cNvGrpSpPr/>
          <p:nvPr/>
        </p:nvGrpSpPr>
        <p:grpSpPr>
          <a:xfrm rot="0">
            <a:off x="0" y="2124"/>
            <a:ext cx="18291715" cy="10295487"/>
            <a:chOff x="0" y="0"/>
            <a:chExt cx="24388953" cy="13727316"/>
          </a:xfrm>
        </p:grpSpPr>
        <p:sp>
          <p:nvSpPr>
            <p:cNvPr name="Freeform 19" id="19"/>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0" id="20"/>
          <p:cNvGrpSpPr/>
          <p:nvPr/>
        </p:nvGrpSpPr>
        <p:grpSpPr>
          <a:xfrm rot="0">
            <a:off x="908999" y="1555147"/>
            <a:ext cx="16470001" cy="1335996"/>
            <a:chOff x="0" y="0"/>
            <a:chExt cx="21960002" cy="1781327"/>
          </a:xfrm>
        </p:grpSpPr>
        <p:sp>
          <p:nvSpPr>
            <p:cNvPr name="Freeform 21" id="21"/>
            <p:cNvSpPr/>
            <p:nvPr/>
          </p:nvSpPr>
          <p:spPr>
            <a:xfrm flipH="false" flipV="false" rot="0">
              <a:off x="0" y="0"/>
              <a:ext cx="21960001" cy="1781326"/>
            </a:xfrm>
            <a:custGeom>
              <a:avLst/>
              <a:gdLst/>
              <a:ahLst/>
              <a:cxnLst/>
              <a:rect r="r" b="b" t="t" l="l"/>
              <a:pathLst>
                <a:path h="1781326" w="21960001">
                  <a:moveTo>
                    <a:pt x="0" y="0"/>
                  </a:moveTo>
                  <a:lnTo>
                    <a:pt x="21960001" y="0"/>
                  </a:lnTo>
                  <a:lnTo>
                    <a:pt x="21960001" y="1781326"/>
                  </a:lnTo>
                  <a:lnTo>
                    <a:pt x="0" y="1781326"/>
                  </a:lnTo>
                  <a:close/>
                </a:path>
              </a:pathLst>
            </a:custGeom>
            <a:blipFill>
              <a:blip r:embed="rId7">
                <a:alphaModFix amt="0"/>
              </a:blip>
              <a:stretch>
                <a:fillRect l="0" t="-190209" r="0" b="-190209"/>
              </a:stretch>
            </a:blipFill>
          </p:spPr>
        </p:sp>
        <p:sp>
          <p:nvSpPr>
            <p:cNvPr name="TextBox 22" id="22"/>
            <p:cNvSpPr txBox="true"/>
            <p:nvPr/>
          </p:nvSpPr>
          <p:spPr>
            <a:xfrm>
              <a:off x="0" y="38100"/>
              <a:ext cx="21960002" cy="1743227"/>
            </a:xfrm>
            <a:prstGeom prst="rect">
              <a:avLst/>
            </a:prstGeom>
          </p:spPr>
          <p:txBody>
            <a:bodyPr anchor="ctr" rtlCol="false" tIns="0" lIns="0" bIns="0" rIns="0"/>
            <a:lstStyle/>
            <a:p>
              <a:pPr algn="l">
                <a:lnSpc>
                  <a:spcPts val="7128"/>
                </a:lnSpc>
              </a:pPr>
              <a:r>
                <a:rPr lang="en-US" b="true" sz="660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2. Giải pháp đề xuất của đề tài</a:t>
              </a:r>
            </a:p>
          </p:txBody>
        </p:sp>
      </p:grpSp>
      <p:grpSp>
        <p:nvGrpSpPr>
          <p:cNvPr name="Group 23" id="23"/>
          <p:cNvGrpSpPr/>
          <p:nvPr/>
        </p:nvGrpSpPr>
        <p:grpSpPr>
          <a:xfrm rot="0">
            <a:off x="6350346" y="9534525"/>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7">
                <a:alphaModFix amt="0"/>
              </a:blip>
              <a:stretch>
                <a:fillRect l="0" t="-169587" r="0" b="-169587"/>
              </a:stretch>
            </a:blipFill>
          </p:spPr>
        </p:sp>
        <p:sp>
          <p:nvSpPr>
            <p:cNvPr name="TextBox 25" id="25"/>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6" id="26"/>
          <p:cNvGrpSpPr/>
          <p:nvPr/>
        </p:nvGrpSpPr>
        <p:grpSpPr>
          <a:xfrm rot="0">
            <a:off x="15634421" y="9534525"/>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7">
                <a:alphaModFix amt="0"/>
              </a:blip>
              <a:stretch>
                <a:fillRect l="0" t="-96391" r="0" b="-96391"/>
              </a:stretch>
            </a:blipFill>
          </p:spPr>
        </p:sp>
        <p:sp>
          <p:nvSpPr>
            <p:cNvPr name="TextBox 28" id="28"/>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7</a:t>
              </a:r>
            </a:p>
          </p:txBody>
        </p:sp>
      </p:grpSp>
      <p:sp>
        <p:nvSpPr>
          <p:cNvPr name="Freeform 29" id="29"/>
          <p:cNvSpPr/>
          <p:nvPr/>
        </p:nvSpPr>
        <p:spPr>
          <a:xfrm flipH="false" flipV="false" rot="0">
            <a:off x="9436446" y="3960374"/>
            <a:ext cx="8645090" cy="4825167"/>
          </a:xfrm>
          <a:custGeom>
            <a:avLst/>
            <a:gdLst/>
            <a:ahLst/>
            <a:cxnLst/>
            <a:rect r="r" b="b" t="t" l="l"/>
            <a:pathLst>
              <a:path h="4825167" w="8645090">
                <a:moveTo>
                  <a:pt x="0" y="0"/>
                </a:moveTo>
                <a:lnTo>
                  <a:pt x="8645090" y="0"/>
                </a:lnTo>
                <a:lnTo>
                  <a:pt x="8645090" y="4825167"/>
                </a:lnTo>
                <a:lnTo>
                  <a:pt x="0" y="4825167"/>
                </a:lnTo>
                <a:lnTo>
                  <a:pt x="0" y="0"/>
                </a:lnTo>
                <a:close/>
              </a:path>
            </a:pathLst>
          </a:custGeom>
          <a:blipFill>
            <a:blip r:embed="rId8"/>
            <a:stretch>
              <a:fillRect l="0" t="0" r="0" b="0"/>
            </a:stretch>
          </a:blipFill>
        </p:spPr>
      </p:sp>
      <p:sp>
        <p:nvSpPr>
          <p:cNvPr name="Freeform 30" id="30"/>
          <p:cNvSpPr/>
          <p:nvPr/>
        </p:nvSpPr>
        <p:spPr>
          <a:xfrm flipH="false" flipV="false" rot="0">
            <a:off x="480866" y="3973062"/>
            <a:ext cx="8514896" cy="4812479"/>
          </a:xfrm>
          <a:custGeom>
            <a:avLst/>
            <a:gdLst/>
            <a:ahLst/>
            <a:cxnLst/>
            <a:rect r="r" b="b" t="t" l="l"/>
            <a:pathLst>
              <a:path h="4812479" w="8514896">
                <a:moveTo>
                  <a:pt x="0" y="0"/>
                </a:moveTo>
                <a:lnTo>
                  <a:pt x="8514896" y="0"/>
                </a:lnTo>
                <a:lnTo>
                  <a:pt x="8514896" y="4812479"/>
                </a:lnTo>
                <a:lnTo>
                  <a:pt x="0" y="4812479"/>
                </a:lnTo>
                <a:lnTo>
                  <a:pt x="0" y="0"/>
                </a:lnTo>
                <a:close/>
              </a:path>
            </a:pathLst>
          </a:custGeom>
          <a:blipFill>
            <a:blip r:embed="rId9"/>
            <a:stretch>
              <a:fillRect l="-631" t="0" r="-631" b="0"/>
            </a:stretch>
          </a:blipFill>
        </p:spPr>
      </p:sp>
      <p:sp>
        <p:nvSpPr>
          <p:cNvPr name="TextBox 31" id="31"/>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name="TextBox 32" id="32"/>
          <p:cNvSpPr txBox="true"/>
          <p:nvPr/>
        </p:nvSpPr>
        <p:spPr>
          <a:xfrm rot="0">
            <a:off x="1000439" y="2933262"/>
            <a:ext cx="16287121" cy="668655"/>
          </a:xfrm>
          <a:prstGeom prst="rect">
            <a:avLst/>
          </a:prstGeom>
        </p:spPr>
        <p:txBody>
          <a:bodyPr anchor="t" rtlCol="false" tIns="0" lIns="0" bIns="0" rIns="0">
            <a:spAutoFit/>
          </a:bodyPr>
          <a:lstStyle/>
          <a:p>
            <a:pPr algn="l" marL="633413" indent="-316706" lvl="1">
              <a:lnSpc>
                <a:spcPts val="5460"/>
              </a:lnSpc>
              <a:buFont typeface="Arial"/>
              <a:buChar char="•"/>
            </a:pPr>
            <a:r>
              <a:rPr lang="en-US" b="true" sz="3500">
                <a:solidFill>
                  <a:srgbClr val="000000"/>
                </a:solidFill>
                <a:latin typeface="Arial Bold"/>
                <a:ea typeface="Arial Bold"/>
                <a:cs typeface="Arial Bold"/>
                <a:sym typeface="Arial Bold"/>
              </a:rPr>
              <a:t>Phân tích thiết kế của giải pháp đề xuất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name="Group 3" id="3"/>
          <p:cNvGrpSpPr/>
          <p:nvPr/>
        </p:nvGrpSpPr>
        <p:grpSpPr>
          <a:xfrm rot="0">
            <a:off x="0" y="2124"/>
            <a:ext cx="18291715" cy="10295487"/>
            <a:chOff x="0" y="0"/>
            <a:chExt cx="24388953" cy="13727316"/>
          </a:xfrm>
        </p:grpSpPr>
        <p:sp>
          <p:nvSpPr>
            <p:cNvPr name="Freeform 4" id="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5" id="5"/>
          <p:cNvGrpSpPr/>
          <p:nvPr/>
        </p:nvGrpSpPr>
        <p:grpSpPr>
          <a:xfrm rot="5400000">
            <a:off x="8668474" y="-8670065"/>
            <a:ext cx="947328" cy="18291715"/>
            <a:chOff x="0" y="0"/>
            <a:chExt cx="1263104" cy="24388953"/>
          </a:xfrm>
        </p:grpSpPr>
        <p:sp>
          <p:nvSpPr>
            <p:cNvPr name="Freeform 6" id="6"/>
            <p:cNvSpPr/>
            <p:nvPr/>
          </p:nvSpPr>
          <p:spPr>
            <a:xfrm flipH="false" flipV="fals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gradFill rotWithShape="true">
              <a:gsLst>
                <a:gs pos="0">
                  <a:srgbClr val="10CD57">
                    <a:alpha val="100000"/>
                  </a:srgbClr>
                </a:gs>
                <a:gs pos="100000">
                  <a:srgbClr val="027159">
                    <a:alpha val="100000"/>
                  </a:srgbClr>
                </a:gs>
              </a:gsLst>
              <a:lin ang="0"/>
            </a:gradFill>
          </p:spPr>
        </p:sp>
      </p:grpSp>
      <p:grpSp>
        <p:nvGrpSpPr>
          <p:cNvPr name="Group 7" id="7"/>
          <p:cNvGrpSpPr/>
          <p:nvPr/>
        </p:nvGrpSpPr>
        <p:grpSpPr>
          <a:xfrm rot="5400000">
            <a:off x="8670331" y="-8672198"/>
            <a:ext cx="947328" cy="18291715"/>
            <a:chOff x="0" y="0"/>
            <a:chExt cx="1263104" cy="24388953"/>
          </a:xfrm>
        </p:grpSpPr>
        <p:sp>
          <p:nvSpPr>
            <p:cNvPr name="Freeform 8" id="8"/>
            <p:cNvSpPr/>
            <p:nvPr/>
          </p:nvSpPr>
          <p:spPr>
            <a:xfrm flipH="false" flipV="tru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blipFill>
              <a:blip r:embed="rId2"/>
              <a:stretch>
                <a:fillRect l="-35093" t="0" r="-35090" b="0"/>
              </a:stretch>
            </a:blipFill>
          </p:spPr>
        </p:sp>
      </p:grpSp>
      <p:sp>
        <p:nvSpPr>
          <p:cNvPr name="TextBox 9" id="9"/>
          <p:cNvSpPr txBox="true"/>
          <p:nvPr/>
        </p:nvSpPr>
        <p:spPr>
          <a:xfrm rot="0">
            <a:off x="451866" y="248326"/>
            <a:ext cx="10947559" cy="424158"/>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10" id="10"/>
          <p:cNvGrpSpPr/>
          <p:nvPr/>
        </p:nvGrpSpPr>
        <p:grpSpPr>
          <a:xfrm rot="0">
            <a:off x="6719973" y="457933"/>
            <a:ext cx="4848044" cy="957948"/>
            <a:chOff x="0" y="0"/>
            <a:chExt cx="6464059" cy="1277264"/>
          </a:xfrm>
        </p:grpSpPr>
        <p:sp>
          <p:nvSpPr>
            <p:cNvPr name="Freeform 11" id="11"/>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2" id="12"/>
          <p:cNvGrpSpPr/>
          <p:nvPr/>
        </p:nvGrpSpPr>
        <p:grpSpPr>
          <a:xfrm rot="0">
            <a:off x="6807460" y="535962"/>
            <a:ext cx="4673079" cy="801872"/>
            <a:chOff x="0" y="0"/>
            <a:chExt cx="6230772" cy="1069162"/>
          </a:xfrm>
        </p:grpSpPr>
        <p:sp>
          <p:nvSpPr>
            <p:cNvPr name="Freeform 13" id="13"/>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4" id="14"/>
          <p:cNvGrpSpPr/>
          <p:nvPr/>
        </p:nvGrpSpPr>
        <p:grpSpPr>
          <a:xfrm rot="0">
            <a:off x="9436446" y="362541"/>
            <a:ext cx="1163307" cy="1152592"/>
            <a:chOff x="0" y="0"/>
            <a:chExt cx="1551076" cy="1536789"/>
          </a:xfrm>
        </p:grpSpPr>
        <p:sp>
          <p:nvSpPr>
            <p:cNvPr name="Freeform 15" id="15"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6" id="16"/>
          <p:cNvGrpSpPr/>
          <p:nvPr/>
        </p:nvGrpSpPr>
        <p:grpSpPr>
          <a:xfrm rot="0">
            <a:off x="7688247" y="398078"/>
            <a:ext cx="1307516" cy="1081516"/>
            <a:chOff x="0" y="0"/>
            <a:chExt cx="1743354" cy="1442022"/>
          </a:xfrm>
        </p:grpSpPr>
        <p:sp>
          <p:nvSpPr>
            <p:cNvPr name="Freeform 17" id="17"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8" id="18"/>
          <p:cNvSpPr/>
          <p:nvPr/>
        </p:nvSpPr>
        <p:spPr>
          <a:xfrm flipH="false" flipV="false" rot="0">
            <a:off x="17262338" y="9405385"/>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9525" y="2124"/>
            <a:ext cx="18291715" cy="10295487"/>
            <a:chOff x="0" y="0"/>
            <a:chExt cx="24388953" cy="13727316"/>
          </a:xfrm>
        </p:grpSpPr>
        <p:sp>
          <p:nvSpPr>
            <p:cNvPr name="Freeform 20" id="20"/>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1" id="21"/>
          <p:cNvGrpSpPr/>
          <p:nvPr/>
        </p:nvGrpSpPr>
        <p:grpSpPr>
          <a:xfrm rot="0">
            <a:off x="908999" y="1555147"/>
            <a:ext cx="16470001" cy="1335996"/>
            <a:chOff x="0" y="0"/>
            <a:chExt cx="21960002" cy="1781327"/>
          </a:xfrm>
        </p:grpSpPr>
        <p:sp>
          <p:nvSpPr>
            <p:cNvPr name="Freeform 22" id="22"/>
            <p:cNvSpPr/>
            <p:nvPr/>
          </p:nvSpPr>
          <p:spPr>
            <a:xfrm flipH="false" flipV="false" rot="0">
              <a:off x="0" y="0"/>
              <a:ext cx="21960001" cy="1781326"/>
            </a:xfrm>
            <a:custGeom>
              <a:avLst/>
              <a:gdLst/>
              <a:ahLst/>
              <a:cxnLst/>
              <a:rect r="r" b="b" t="t" l="l"/>
              <a:pathLst>
                <a:path h="1781326" w="21960001">
                  <a:moveTo>
                    <a:pt x="0" y="0"/>
                  </a:moveTo>
                  <a:lnTo>
                    <a:pt x="21960001" y="0"/>
                  </a:lnTo>
                  <a:lnTo>
                    <a:pt x="21960001" y="1781326"/>
                  </a:lnTo>
                  <a:lnTo>
                    <a:pt x="0" y="1781326"/>
                  </a:lnTo>
                  <a:close/>
                </a:path>
              </a:pathLst>
            </a:custGeom>
            <a:blipFill>
              <a:blip r:embed="rId7">
                <a:alphaModFix amt="0"/>
              </a:blip>
              <a:stretch>
                <a:fillRect l="0" t="-190209" r="0" b="-190209"/>
              </a:stretch>
            </a:blipFill>
          </p:spPr>
        </p:sp>
        <p:sp>
          <p:nvSpPr>
            <p:cNvPr name="TextBox 23" id="23"/>
            <p:cNvSpPr txBox="true"/>
            <p:nvPr/>
          </p:nvSpPr>
          <p:spPr>
            <a:xfrm>
              <a:off x="0" y="38100"/>
              <a:ext cx="21960002" cy="1743227"/>
            </a:xfrm>
            <a:prstGeom prst="rect">
              <a:avLst/>
            </a:prstGeom>
          </p:spPr>
          <p:txBody>
            <a:bodyPr anchor="ctr" rtlCol="false" tIns="0" lIns="0" bIns="0" rIns="0"/>
            <a:lstStyle/>
            <a:p>
              <a:pPr algn="l">
                <a:lnSpc>
                  <a:spcPts val="7128"/>
                </a:lnSpc>
              </a:pPr>
              <a:r>
                <a:rPr lang="en-US" b="true" sz="660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2. Giải pháp đề xuất của đề tài</a:t>
              </a:r>
            </a:p>
          </p:txBody>
        </p:sp>
      </p:grpSp>
      <p:sp>
        <p:nvSpPr>
          <p:cNvPr name="TextBox 24" id="24"/>
          <p:cNvSpPr txBox="true"/>
          <p:nvPr/>
        </p:nvSpPr>
        <p:spPr>
          <a:xfrm rot="0">
            <a:off x="1000439" y="2933262"/>
            <a:ext cx="16287121" cy="668655"/>
          </a:xfrm>
          <a:prstGeom prst="rect">
            <a:avLst/>
          </a:prstGeom>
        </p:spPr>
        <p:txBody>
          <a:bodyPr anchor="t" rtlCol="false" tIns="0" lIns="0" bIns="0" rIns="0">
            <a:spAutoFit/>
          </a:bodyPr>
          <a:lstStyle/>
          <a:p>
            <a:pPr algn="l" marL="633413" indent="-316706" lvl="1">
              <a:lnSpc>
                <a:spcPts val="5460"/>
              </a:lnSpc>
              <a:buFont typeface="Arial"/>
              <a:buChar char="•"/>
            </a:pPr>
            <a:r>
              <a:rPr lang="en-US" b="true" sz="3500">
                <a:solidFill>
                  <a:srgbClr val="000000"/>
                </a:solidFill>
                <a:latin typeface="Arial Bold"/>
                <a:ea typeface="Arial Bold"/>
                <a:cs typeface="Arial Bold"/>
                <a:sym typeface="Arial Bold"/>
              </a:rPr>
              <a:t>Phân tích thiết kế của giải pháp đề xuất </a:t>
            </a:r>
          </a:p>
        </p:txBody>
      </p:sp>
      <p:grpSp>
        <p:nvGrpSpPr>
          <p:cNvPr name="Group 25" id="25"/>
          <p:cNvGrpSpPr/>
          <p:nvPr/>
        </p:nvGrpSpPr>
        <p:grpSpPr>
          <a:xfrm rot="0">
            <a:off x="6350346" y="9534525"/>
            <a:ext cx="6172200" cy="547688"/>
            <a:chOff x="0" y="0"/>
            <a:chExt cx="8229600" cy="730250"/>
          </a:xfrm>
        </p:grpSpPr>
        <p:sp>
          <p:nvSpPr>
            <p:cNvPr name="Freeform 26" id="26"/>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7">
                <a:alphaModFix amt="0"/>
              </a:blip>
              <a:stretch>
                <a:fillRect l="0" t="-169587" r="0" b="-169587"/>
              </a:stretch>
            </a:blipFill>
          </p:spPr>
        </p:sp>
        <p:sp>
          <p:nvSpPr>
            <p:cNvPr name="TextBox 27" id="27"/>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8" id="28"/>
          <p:cNvGrpSpPr/>
          <p:nvPr/>
        </p:nvGrpSpPr>
        <p:grpSpPr>
          <a:xfrm rot="0">
            <a:off x="15634421" y="9534525"/>
            <a:ext cx="4114800" cy="547688"/>
            <a:chOff x="0" y="0"/>
            <a:chExt cx="5486400" cy="730250"/>
          </a:xfrm>
        </p:grpSpPr>
        <p:sp>
          <p:nvSpPr>
            <p:cNvPr name="Freeform 29" id="29"/>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7">
                <a:alphaModFix amt="0"/>
              </a:blip>
              <a:stretch>
                <a:fillRect l="0" t="-96391" r="0" b="-96391"/>
              </a:stretch>
            </a:blipFill>
          </p:spPr>
        </p:sp>
        <p:sp>
          <p:nvSpPr>
            <p:cNvPr name="TextBox 30" id="30"/>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7</a:t>
              </a:r>
            </a:p>
          </p:txBody>
        </p:sp>
      </p:grpSp>
      <p:sp>
        <p:nvSpPr>
          <p:cNvPr name="TextBox 31" id="31"/>
          <p:cNvSpPr txBox="true"/>
          <p:nvPr/>
        </p:nvSpPr>
        <p:spPr>
          <a:xfrm rot="0">
            <a:off x="1455753" y="3811467"/>
            <a:ext cx="16832247" cy="1800225"/>
          </a:xfrm>
          <a:prstGeom prst="rect">
            <a:avLst/>
          </a:prstGeom>
        </p:spPr>
        <p:txBody>
          <a:bodyPr anchor="t" rtlCol="false" tIns="0" lIns="0" bIns="0" rIns="0">
            <a:spAutoFit/>
          </a:bodyPr>
          <a:lstStyle/>
          <a:p>
            <a:pPr algn="l" marL="647694" indent="-323847" lvl="1">
              <a:lnSpc>
                <a:spcPts val="3599"/>
              </a:lnSpc>
              <a:buFont typeface="Arial"/>
              <a:buChar char="•"/>
            </a:pPr>
            <a:r>
              <a:rPr lang="en-US" b="true" sz="2999">
                <a:solidFill>
                  <a:srgbClr val="000000"/>
                </a:solidFill>
                <a:latin typeface="Arial Bold"/>
                <a:ea typeface="Arial Bold"/>
                <a:cs typeface="Arial Bold"/>
                <a:sym typeface="Arial Bold"/>
              </a:rPr>
              <a:t>L1-D cache:</a:t>
            </a:r>
            <a:r>
              <a:rPr lang="en-US" sz="2999">
                <a:solidFill>
                  <a:srgbClr val="000000"/>
                </a:solidFill>
                <a:latin typeface="Arial"/>
                <a:ea typeface="Arial"/>
                <a:cs typeface="Arial"/>
                <a:sym typeface="Arial"/>
              </a:rPr>
              <a:t> direct-mapped 16 line, write-back/write-allocate, FSM 12 trạng thái (ST_IDLE, ST_WB_DATA, ST_WB_DATA_WAIT, ST_WB_REQ, ST_WB_WAIT, ST_REQ, ST_WAIT_PERM, ST_FILL_DATA, ST_FILL_WAIT, ST_SNOOP, ST_SNOOP_WB, ST_SNOOP_WB_WAIT).</a:t>
            </a:r>
          </a:p>
        </p:txBody>
      </p:sp>
      <p:sp>
        <p:nvSpPr>
          <p:cNvPr name="TextBox 32" id="32"/>
          <p:cNvSpPr txBox="true"/>
          <p:nvPr/>
        </p:nvSpPr>
        <p:spPr>
          <a:xfrm rot="0">
            <a:off x="1459468" y="5821242"/>
            <a:ext cx="16832247" cy="904875"/>
          </a:xfrm>
          <a:prstGeom prst="rect">
            <a:avLst/>
          </a:prstGeom>
        </p:spPr>
        <p:txBody>
          <a:bodyPr anchor="t" rtlCol="false" tIns="0" lIns="0" bIns="0" rIns="0">
            <a:spAutoFit/>
          </a:bodyPr>
          <a:lstStyle/>
          <a:p>
            <a:pPr algn="l" marL="647694" indent="-323847" lvl="1">
              <a:lnSpc>
                <a:spcPts val="3599"/>
              </a:lnSpc>
              <a:buFont typeface="Arial"/>
              <a:buChar char="•"/>
            </a:pPr>
            <a:r>
              <a:rPr lang="en-US" b="true" sz="2999">
                <a:solidFill>
                  <a:srgbClr val="000000"/>
                </a:solidFill>
                <a:latin typeface="Arial Bold"/>
                <a:ea typeface="Arial Bold"/>
                <a:cs typeface="Arial Bold"/>
                <a:sym typeface="Arial Bold"/>
              </a:rPr>
              <a:t>Directory:</a:t>
            </a:r>
            <a:r>
              <a:rPr lang="en-US" sz="2999">
                <a:solidFill>
                  <a:srgbClr val="000000"/>
                </a:solidFill>
                <a:latin typeface="Arial"/>
                <a:ea typeface="Arial"/>
                <a:cs typeface="Arial"/>
                <a:sym typeface="Arial"/>
              </a:rPr>
              <a:t> FSM D_IDLE → D_FWD / D_RECALL / D_INV → D_RESP, round-robin giữa các core.</a:t>
            </a:r>
          </a:p>
        </p:txBody>
      </p:sp>
      <p:sp>
        <p:nvSpPr>
          <p:cNvPr name="TextBox 33" id="33"/>
          <p:cNvSpPr txBox="true"/>
          <p:nvPr/>
        </p:nvSpPr>
        <p:spPr>
          <a:xfrm rot="0">
            <a:off x="1461221" y="6935667"/>
            <a:ext cx="16230600" cy="904875"/>
          </a:xfrm>
          <a:prstGeom prst="rect">
            <a:avLst/>
          </a:prstGeom>
        </p:spPr>
        <p:txBody>
          <a:bodyPr anchor="t" rtlCol="false" tIns="0" lIns="0" bIns="0" rIns="0">
            <a:spAutoFit/>
          </a:bodyPr>
          <a:lstStyle/>
          <a:p>
            <a:pPr algn="l" marL="647694" indent="-323847" lvl="1">
              <a:lnSpc>
                <a:spcPts val="3599"/>
              </a:lnSpc>
              <a:buFont typeface="Arial"/>
              <a:buChar char="•"/>
            </a:pPr>
            <a:r>
              <a:rPr lang="en-US" b="true" sz="2999">
                <a:solidFill>
                  <a:srgbClr val="000000"/>
                </a:solidFill>
                <a:latin typeface="Arial Bold"/>
                <a:ea typeface="Arial Bold"/>
                <a:cs typeface="Arial Bold"/>
                <a:sym typeface="Arial Bold"/>
              </a:rPr>
              <a:t>Crossbar:</a:t>
            </a:r>
            <a:r>
              <a:rPr lang="en-US" sz="2999">
                <a:solidFill>
                  <a:srgbClr val="000000"/>
                </a:solidFill>
                <a:latin typeface="Arial"/>
                <a:ea typeface="Arial"/>
                <a:cs typeface="Arial"/>
                <a:sym typeface="Arial"/>
              </a:rPr>
              <a:t> mỗi bank một round-robin, định tuyến theo addr[4] (line-interleaved), truyền line 128-bit, đọc trễ 1 chu kỳ, 1-outstanding.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name="Group 3" id="3"/>
          <p:cNvGrpSpPr/>
          <p:nvPr/>
        </p:nvGrpSpPr>
        <p:grpSpPr>
          <a:xfrm rot="0">
            <a:off x="0" y="2124"/>
            <a:ext cx="18291715" cy="10295487"/>
            <a:chOff x="0" y="0"/>
            <a:chExt cx="24388953" cy="13727316"/>
          </a:xfrm>
        </p:grpSpPr>
        <p:sp>
          <p:nvSpPr>
            <p:cNvPr name="Freeform 4" id="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5" id="5"/>
          <p:cNvGrpSpPr/>
          <p:nvPr/>
        </p:nvGrpSpPr>
        <p:grpSpPr>
          <a:xfrm rot="0">
            <a:off x="-36214" y="0"/>
            <a:ext cx="6084589" cy="10287000"/>
            <a:chOff x="0" y="0"/>
            <a:chExt cx="8112785" cy="13716000"/>
          </a:xfrm>
        </p:grpSpPr>
        <p:sp>
          <p:nvSpPr>
            <p:cNvPr name="Freeform 6" id="6"/>
            <p:cNvSpPr/>
            <p:nvPr/>
          </p:nvSpPr>
          <p:spPr>
            <a:xfrm flipH="false" flipV="false" rot="0">
              <a:off x="0" y="0"/>
              <a:ext cx="8112760" cy="13716000"/>
            </a:xfrm>
            <a:custGeom>
              <a:avLst/>
              <a:gdLst/>
              <a:ahLst/>
              <a:cxnLst/>
              <a:rect r="r" b="b" t="t" l="l"/>
              <a:pathLst>
                <a:path h="13716000" w="8112760">
                  <a:moveTo>
                    <a:pt x="0" y="0"/>
                  </a:moveTo>
                  <a:lnTo>
                    <a:pt x="8112760" y="0"/>
                  </a:lnTo>
                  <a:lnTo>
                    <a:pt x="8112760" y="13716000"/>
                  </a:lnTo>
                  <a:lnTo>
                    <a:pt x="0" y="13716000"/>
                  </a:lnTo>
                  <a:close/>
                </a:path>
              </a:pathLst>
            </a:custGeom>
            <a:gradFill rotWithShape="true">
              <a:gsLst>
                <a:gs pos="0">
                  <a:srgbClr val="38EF7D">
                    <a:alpha val="100000"/>
                  </a:srgbClr>
                </a:gs>
                <a:gs pos="100000">
                  <a:srgbClr val="11998E">
                    <a:alpha val="100000"/>
                  </a:srgbClr>
                </a:gs>
              </a:gsLst>
              <a:lin ang="5400000"/>
            </a:gradFill>
          </p:spPr>
        </p:sp>
      </p:grpSp>
      <p:grpSp>
        <p:nvGrpSpPr>
          <p:cNvPr name="Group 7" id="7"/>
          <p:cNvGrpSpPr/>
          <p:nvPr/>
        </p:nvGrpSpPr>
        <p:grpSpPr>
          <a:xfrm rot="0">
            <a:off x="-46873" y="0"/>
            <a:ext cx="2707176" cy="10287000"/>
            <a:chOff x="0" y="0"/>
            <a:chExt cx="3609569" cy="13716000"/>
          </a:xfrm>
        </p:grpSpPr>
        <p:sp>
          <p:nvSpPr>
            <p:cNvPr name="Freeform 8" id="8"/>
            <p:cNvSpPr/>
            <p:nvPr/>
          </p:nvSpPr>
          <p:spPr>
            <a:xfrm flipH="false" flipV="true" rot="0">
              <a:off x="0" y="0"/>
              <a:ext cx="3609594" cy="13716000"/>
            </a:xfrm>
            <a:custGeom>
              <a:avLst/>
              <a:gdLst/>
              <a:ahLst/>
              <a:cxnLst/>
              <a:rect r="r" b="b" t="t" l="l"/>
              <a:pathLst>
                <a:path h="13716000" w="3609594">
                  <a:moveTo>
                    <a:pt x="0" y="0"/>
                  </a:moveTo>
                  <a:lnTo>
                    <a:pt x="3609594" y="0"/>
                  </a:lnTo>
                  <a:lnTo>
                    <a:pt x="3609594" y="13716000"/>
                  </a:lnTo>
                  <a:lnTo>
                    <a:pt x="0" y="13716000"/>
                  </a:lnTo>
                  <a:close/>
                </a:path>
              </a:pathLst>
            </a:custGeom>
            <a:blipFill>
              <a:blip r:embed="rId2"/>
              <a:stretch>
                <a:fillRect l="-2907" t="0" r="-2906" b="0"/>
              </a:stretch>
            </a:blipFill>
          </p:spPr>
        </p:sp>
      </p:grpSp>
      <p:sp>
        <p:nvSpPr>
          <p:cNvPr name="TextBox 9" id="9"/>
          <p:cNvSpPr txBox="true"/>
          <p:nvPr/>
        </p:nvSpPr>
        <p:spPr>
          <a:xfrm rot="-5400000">
            <a:off x="-2614688" y="6739452"/>
            <a:ext cx="6076721" cy="425920"/>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10" id="10"/>
          <p:cNvGrpSpPr/>
          <p:nvPr/>
        </p:nvGrpSpPr>
        <p:grpSpPr>
          <a:xfrm rot="0">
            <a:off x="6719973" y="293294"/>
            <a:ext cx="4848044" cy="957948"/>
            <a:chOff x="0" y="0"/>
            <a:chExt cx="6464059" cy="1277264"/>
          </a:xfrm>
        </p:grpSpPr>
        <p:sp>
          <p:nvSpPr>
            <p:cNvPr name="Freeform 11" id="11"/>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2" id="12"/>
          <p:cNvGrpSpPr/>
          <p:nvPr/>
        </p:nvGrpSpPr>
        <p:grpSpPr>
          <a:xfrm rot="0">
            <a:off x="6807460" y="371332"/>
            <a:ext cx="4673079" cy="801872"/>
            <a:chOff x="0" y="0"/>
            <a:chExt cx="6230772" cy="1069162"/>
          </a:xfrm>
        </p:grpSpPr>
        <p:sp>
          <p:nvSpPr>
            <p:cNvPr name="Freeform 13" id="13"/>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4" id="14"/>
          <p:cNvGrpSpPr/>
          <p:nvPr/>
        </p:nvGrpSpPr>
        <p:grpSpPr>
          <a:xfrm rot="0">
            <a:off x="9436446" y="197910"/>
            <a:ext cx="1163307" cy="1152592"/>
            <a:chOff x="0" y="0"/>
            <a:chExt cx="1551076" cy="1536789"/>
          </a:xfrm>
        </p:grpSpPr>
        <p:sp>
          <p:nvSpPr>
            <p:cNvPr name="Freeform 15" id="15"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6" id="16"/>
          <p:cNvGrpSpPr/>
          <p:nvPr/>
        </p:nvGrpSpPr>
        <p:grpSpPr>
          <a:xfrm rot="0">
            <a:off x="7688247" y="233439"/>
            <a:ext cx="1307516" cy="1081516"/>
            <a:chOff x="0" y="0"/>
            <a:chExt cx="1743354" cy="1442022"/>
          </a:xfrm>
        </p:grpSpPr>
        <p:sp>
          <p:nvSpPr>
            <p:cNvPr name="Freeform 17" id="17"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8" id="18"/>
          <p:cNvSpPr/>
          <p:nvPr/>
        </p:nvSpPr>
        <p:spPr>
          <a:xfrm flipH="false" flipV="false" rot="0">
            <a:off x="17262338" y="364607"/>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1705232" y="2175643"/>
            <a:ext cx="15315943" cy="6434480"/>
            <a:chOff x="0" y="0"/>
            <a:chExt cx="20421257" cy="8579307"/>
          </a:xfrm>
        </p:grpSpPr>
        <p:sp>
          <p:nvSpPr>
            <p:cNvPr name="Freeform 20" id="20"/>
            <p:cNvSpPr/>
            <p:nvPr/>
          </p:nvSpPr>
          <p:spPr>
            <a:xfrm flipH="false" flipV="false" rot="0">
              <a:off x="0" y="0"/>
              <a:ext cx="20421346" cy="8579358"/>
            </a:xfrm>
            <a:custGeom>
              <a:avLst/>
              <a:gdLst/>
              <a:ahLst/>
              <a:cxnLst/>
              <a:rect r="r" b="b" t="t" l="l"/>
              <a:pathLst>
                <a:path h="8579358" w="20421346">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7"/>
              <a:stretch>
                <a:fillRect l="-189" t="0" r="-189" b="0"/>
              </a:stretch>
            </a:blipFill>
          </p:spPr>
        </p:sp>
      </p:grpSp>
      <p:grpSp>
        <p:nvGrpSpPr>
          <p:cNvPr name="Group 21" id="21"/>
          <p:cNvGrpSpPr/>
          <p:nvPr/>
        </p:nvGrpSpPr>
        <p:grpSpPr>
          <a:xfrm rot="0">
            <a:off x="1705232" y="2175643"/>
            <a:ext cx="15315943" cy="6434480"/>
            <a:chOff x="0" y="0"/>
            <a:chExt cx="20421257" cy="8579307"/>
          </a:xfrm>
        </p:grpSpPr>
        <p:sp>
          <p:nvSpPr>
            <p:cNvPr name="Freeform 22" id="22"/>
            <p:cNvSpPr/>
            <p:nvPr/>
          </p:nvSpPr>
          <p:spPr>
            <a:xfrm flipH="false" flipV="false" rot="0">
              <a:off x="0" y="0"/>
              <a:ext cx="20421346" cy="8579358"/>
            </a:xfrm>
            <a:custGeom>
              <a:avLst/>
              <a:gdLst/>
              <a:ahLst/>
              <a:cxnLst/>
              <a:rect r="r" b="b" t="t" l="l"/>
              <a:pathLst>
                <a:path h="8579358" w="20421346">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true">
              <a:gsLst>
                <a:gs pos="0">
                  <a:srgbClr val="38EF7D">
                    <a:alpha val="40000"/>
                  </a:srgbClr>
                </a:gs>
                <a:gs pos="100000">
                  <a:srgbClr val="11998E">
                    <a:alpha val="40000"/>
                  </a:srgbClr>
                </a:gs>
              </a:gsLst>
              <a:lin ang="4032715"/>
            </a:gradFill>
          </p:spPr>
        </p:sp>
      </p:grpSp>
      <p:grpSp>
        <p:nvGrpSpPr>
          <p:cNvPr name="Group 23" id="23"/>
          <p:cNvGrpSpPr/>
          <p:nvPr/>
        </p:nvGrpSpPr>
        <p:grpSpPr>
          <a:xfrm rot="0">
            <a:off x="0" y="2124"/>
            <a:ext cx="18291715" cy="10295487"/>
            <a:chOff x="0" y="0"/>
            <a:chExt cx="24388953" cy="13727316"/>
          </a:xfrm>
        </p:grpSpPr>
        <p:sp>
          <p:nvSpPr>
            <p:cNvPr name="Freeform 24" id="2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5" id="25"/>
          <p:cNvGrpSpPr/>
          <p:nvPr/>
        </p:nvGrpSpPr>
        <p:grpSpPr>
          <a:xfrm rot="0">
            <a:off x="10848975" y="9534525"/>
            <a:ext cx="6172200" cy="547688"/>
            <a:chOff x="0" y="0"/>
            <a:chExt cx="8229600" cy="730250"/>
          </a:xfrm>
        </p:grpSpPr>
        <p:sp>
          <p:nvSpPr>
            <p:cNvPr name="Freeform 26" id="26"/>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8">
                <a:alphaModFix amt="0"/>
              </a:blip>
              <a:stretch>
                <a:fillRect l="0" t="-169587" r="0" b="-169587"/>
              </a:stretch>
            </a:blipFill>
          </p:spPr>
        </p:sp>
        <p:sp>
          <p:nvSpPr>
            <p:cNvPr name="TextBox 27" id="27"/>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8" id="28"/>
          <p:cNvGrpSpPr/>
          <p:nvPr/>
        </p:nvGrpSpPr>
        <p:grpSpPr>
          <a:xfrm rot="0">
            <a:off x="15614542" y="498424"/>
            <a:ext cx="4114800" cy="547688"/>
            <a:chOff x="0" y="0"/>
            <a:chExt cx="5486400" cy="730250"/>
          </a:xfrm>
        </p:grpSpPr>
        <p:sp>
          <p:nvSpPr>
            <p:cNvPr name="Freeform 29" id="29"/>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8">
                <a:alphaModFix amt="0"/>
              </a:blip>
              <a:stretch>
                <a:fillRect l="0" t="-96391" r="0" b="-96391"/>
              </a:stretch>
            </a:blipFill>
          </p:spPr>
        </p:sp>
        <p:sp>
          <p:nvSpPr>
            <p:cNvPr name="TextBox 30" id="30"/>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8</a:t>
              </a:r>
            </a:p>
          </p:txBody>
        </p:sp>
      </p:grpSp>
      <p:grpSp>
        <p:nvGrpSpPr>
          <p:cNvPr name="Group 31" id="31"/>
          <p:cNvGrpSpPr/>
          <p:nvPr/>
        </p:nvGrpSpPr>
        <p:grpSpPr>
          <a:xfrm rot="0">
            <a:off x="2480043" y="3638074"/>
            <a:ext cx="13766321" cy="2258930"/>
            <a:chOff x="0" y="0"/>
            <a:chExt cx="18355094" cy="3011907"/>
          </a:xfrm>
        </p:grpSpPr>
        <p:sp>
          <p:nvSpPr>
            <p:cNvPr name="Freeform 32" id="32"/>
            <p:cNvSpPr/>
            <p:nvPr/>
          </p:nvSpPr>
          <p:spPr>
            <a:xfrm flipH="false" flipV="false" rot="0">
              <a:off x="0" y="0"/>
              <a:ext cx="18355097" cy="3011906"/>
            </a:xfrm>
            <a:custGeom>
              <a:avLst/>
              <a:gdLst/>
              <a:ahLst/>
              <a:cxnLst/>
              <a:rect r="r" b="b" t="t" l="l"/>
              <a:pathLst>
                <a:path h="3011906" w="18355097">
                  <a:moveTo>
                    <a:pt x="0" y="0"/>
                  </a:moveTo>
                  <a:lnTo>
                    <a:pt x="18355097" y="0"/>
                  </a:lnTo>
                  <a:lnTo>
                    <a:pt x="18355097" y="3011906"/>
                  </a:lnTo>
                  <a:lnTo>
                    <a:pt x="0" y="3011906"/>
                  </a:lnTo>
                  <a:close/>
                </a:path>
              </a:pathLst>
            </a:custGeom>
            <a:blipFill>
              <a:blip r:embed="rId8">
                <a:alphaModFix amt="0"/>
              </a:blip>
              <a:stretch>
                <a:fillRect l="0" t="-68745" r="0" b="-68745"/>
              </a:stretch>
            </a:blipFill>
          </p:spPr>
        </p:sp>
        <p:sp>
          <p:nvSpPr>
            <p:cNvPr name="TextBox 33" id="33"/>
            <p:cNvSpPr txBox="true"/>
            <p:nvPr/>
          </p:nvSpPr>
          <p:spPr>
            <a:xfrm>
              <a:off x="0" y="38100"/>
              <a:ext cx="18355094" cy="2973807"/>
            </a:xfrm>
            <a:prstGeom prst="rect">
              <a:avLst/>
            </a:prstGeom>
          </p:spPr>
          <p:txBody>
            <a:bodyPr anchor="ctr" rtlCol="false" tIns="0" lIns="0" bIns="0" rIns="0"/>
            <a:lstStyle/>
            <a:p>
              <a:pPr algn="l">
                <a:lnSpc>
                  <a:spcPts val="7873"/>
                </a:lnSpc>
              </a:pPr>
              <a:r>
                <a:rPr lang="en-US" sz="7290" b="true">
                  <a:solidFill>
                    <a:srgbClr val="FFFFFF"/>
                  </a:solidFill>
                  <a:latin typeface="Times New Roman Bold"/>
                  <a:ea typeface="Times New Roman Bold"/>
                  <a:cs typeface="Times New Roman Bold"/>
                  <a:sym typeface="Times New Roman Bold"/>
                </a:rPr>
                <a:t>KẾT QUẢ CỦA</a:t>
              </a:r>
            </a:p>
            <a:p>
              <a:pPr algn="l">
                <a:lnSpc>
                  <a:spcPts val="7873"/>
                </a:lnSpc>
              </a:pPr>
              <a:r>
                <a:rPr lang="en-US" sz="7290" b="true">
                  <a:solidFill>
                    <a:srgbClr val="FFFFFF"/>
                  </a:solidFill>
                  <a:latin typeface="Times New Roman Bold"/>
                  <a:ea typeface="Times New Roman Bold"/>
                  <a:cs typeface="Times New Roman Bold"/>
                  <a:sym typeface="Times New Roman Bold"/>
                </a:rPr>
                <a:t>GIẢI PHÁP ĐỀ XUẤT</a:t>
              </a:r>
            </a:p>
          </p:txBody>
        </p:sp>
      </p:grpSp>
      <p:sp>
        <p:nvSpPr>
          <p:cNvPr name="TextBox 34" id="34"/>
          <p:cNvSpPr txBox="true"/>
          <p:nvPr/>
        </p:nvSpPr>
        <p:spPr>
          <a:xfrm rot="0">
            <a:off x="2571483" y="1020985"/>
            <a:ext cx="2896076" cy="2454116"/>
          </a:xfrm>
          <a:prstGeom prst="rect">
            <a:avLst/>
          </a:prstGeom>
        </p:spPr>
        <p:txBody>
          <a:bodyPr anchor="t" rtlCol="false" tIns="0" lIns="0" bIns="0" rIns="0">
            <a:spAutoFit/>
          </a:bodyPr>
          <a:lstStyle/>
          <a:p>
            <a:pPr algn="l">
              <a:lnSpc>
                <a:spcPts val="18630"/>
              </a:lnSpc>
            </a:pPr>
            <a:r>
              <a:rPr lang="en-US" sz="17250" b="true">
                <a:solidFill>
                  <a:srgbClr val="FFFFFF">
                    <a:alpha val="65098"/>
                  </a:srgbClr>
                </a:solidFill>
                <a:latin typeface="Arial Bold"/>
                <a:ea typeface="Arial Bold"/>
                <a:cs typeface="Arial Bold"/>
                <a:sym typeface="Arial Bold"/>
              </a:rPr>
              <a:t>03</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124"/>
            <a:ext cx="18291715" cy="10295487"/>
            <a:chOff x="0" y="0"/>
            <a:chExt cx="24388953" cy="13727316"/>
          </a:xfrm>
        </p:grpSpPr>
        <p:sp>
          <p:nvSpPr>
            <p:cNvPr name="Freeform 3" id="3"/>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4" id="4"/>
          <p:cNvGrpSpPr/>
          <p:nvPr/>
        </p:nvGrpSpPr>
        <p:grpSpPr>
          <a:xfrm rot="5400000">
            <a:off x="8668474" y="-8670065"/>
            <a:ext cx="947328" cy="18291715"/>
            <a:chOff x="0" y="0"/>
            <a:chExt cx="1263104" cy="24388953"/>
          </a:xfrm>
        </p:grpSpPr>
        <p:sp>
          <p:nvSpPr>
            <p:cNvPr name="Freeform 5" id="5"/>
            <p:cNvSpPr/>
            <p:nvPr/>
          </p:nvSpPr>
          <p:spPr>
            <a:xfrm flipH="false" flipV="fals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gradFill rotWithShape="true">
              <a:gsLst>
                <a:gs pos="0">
                  <a:srgbClr val="10CD57">
                    <a:alpha val="100000"/>
                  </a:srgbClr>
                </a:gs>
                <a:gs pos="100000">
                  <a:srgbClr val="027159">
                    <a:alpha val="100000"/>
                  </a:srgbClr>
                </a:gs>
              </a:gsLst>
              <a:lin ang="0"/>
            </a:gradFill>
          </p:spPr>
        </p:sp>
      </p:grpSp>
      <p:grpSp>
        <p:nvGrpSpPr>
          <p:cNvPr name="Group 6" id="6"/>
          <p:cNvGrpSpPr/>
          <p:nvPr/>
        </p:nvGrpSpPr>
        <p:grpSpPr>
          <a:xfrm rot="5400000">
            <a:off x="8670331" y="-8672198"/>
            <a:ext cx="947328" cy="18291715"/>
            <a:chOff x="0" y="0"/>
            <a:chExt cx="1263104" cy="24388953"/>
          </a:xfrm>
        </p:grpSpPr>
        <p:sp>
          <p:nvSpPr>
            <p:cNvPr name="Freeform 7" id="7"/>
            <p:cNvSpPr/>
            <p:nvPr/>
          </p:nvSpPr>
          <p:spPr>
            <a:xfrm flipH="false" flipV="tru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blipFill>
              <a:blip r:embed="rId2"/>
              <a:stretch>
                <a:fillRect l="-35093" t="0" r="-35090" b="0"/>
              </a:stretch>
            </a:blipFill>
          </p:spPr>
        </p:sp>
      </p:grpSp>
      <p:sp>
        <p:nvSpPr>
          <p:cNvPr name="TextBox 8" id="8"/>
          <p:cNvSpPr txBox="true"/>
          <p:nvPr/>
        </p:nvSpPr>
        <p:spPr>
          <a:xfrm rot="0">
            <a:off x="451866" y="248326"/>
            <a:ext cx="10947559" cy="424158"/>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9" id="9"/>
          <p:cNvGrpSpPr/>
          <p:nvPr/>
        </p:nvGrpSpPr>
        <p:grpSpPr>
          <a:xfrm rot="0">
            <a:off x="6719973" y="457933"/>
            <a:ext cx="4848044" cy="957948"/>
            <a:chOff x="0" y="0"/>
            <a:chExt cx="6464059" cy="1277264"/>
          </a:xfrm>
        </p:grpSpPr>
        <p:sp>
          <p:nvSpPr>
            <p:cNvPr name="Freeform 10" id="10"/>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1" id="11"/>
          <p:cNvGrpSpPr/>
          <p:nvPr/>
        </p:nvGrpSpPr>
        <p:grpSpPr>
          <a:xfrm rot="0">
            <a:off x="6807460" y="535962"/>
            <a:ext cx="4673079" cy="801872"/>
            <a:chOff x="0" y="0"/>
            <a:chExt cx="6230772" cy="1069162"/>
          </a:xfrm>
        </p:grpSpPr>
        <p:sp>
          <p:nvSpPr>
            <p:cNvPr name="Freeform 12" id="12"/>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3" id="13"/>
          <p:cNvGrpSpPr/>
          <p:nvPr/>
        </p:nvGrpSpPr>
        <p:grpSpPr>
          <a:xfrm rot="0">
            <a:off x="9436446" y="362541"/>
            <a:ext cx="1163307" cy="1152592"/>
            <a:chOff x="0" y="0"/>
            <a:chExt cx="1551076" cy="1536789"/>
          </a:xfrm>
        </p:grpSpPr>
        <p:sp>
          <p:nvSpPr>
            <p:cNvPr name="Freeform 14" id="14"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5" id="15"/>
          <p:cNvGrpSpPr/>
          <p:nvPr/>
        </p:nvGrpSpPr>
        <p:grpSpPr>
          <a:xfrm rot="0">
            <a:off x="7688247" y="398078"/>
            <a:ext cx="1307516" cy="1081516"/>
            <a:chOff x="0" y="0"/>
            <a:chExt cx="1743354" cy="1442022"/>
          </a:xfrm>
        </p:grpSpPr>
        <p:sp>
          <p:nvSpPr>
            <p:cNvPr name="Freeform 16" id="16"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7" id="17"/>
          <p:cNvSpPr/>
          <p:nvPr/>
        </p:nvSpPr>
        <p:spPr>
          <a:xfrm flipH="false" flipV="false" rot="0">
            <a:off x="17262338" y="9405385"/>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8" id="18"/>
          <p:cNvGrpSpPr/>
          <p:nvPr/>
        </p:nvGrpSpPr>
        <p:grpSpPr>
          <a:xfrm rot="0">
            <a:off x="0" y="2124"/>
            <a:ext cx="18291715" cy="10295487"/>
            <a:chOff x="0" y="0"/>
            <a:chExt cx="24388953" cy="13727316"/>
          </a:xfrm>
        </p:grpSpPr>
        <p:sp>
          <p:nvSpPr>
            <p:cNvPr name="Freeform 19" id="19"/>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0" id="20"/>
          <p:cNvGrpSpPr/>
          <p:nvPr/>
        </p:nvGrpSpPr>
        <p:grpSpPr>
          <a:xfrm rot="0">
            <a:off x="908999" y="1555147"/>
            <a:ext cx="16470001" cy="1335996"/>
            <a:chOff x="0" y="0"/>
            <a:chExt cx="21960002" cy="1781327"/>
          </a:xfrm>
        </p:grpSpPr>
        <p:sp>
          <p:nvSpPr>
            <p:cNvPr name="Freeform 21" id="21"/>
            <p:cNvSpPr/>
            <p:nvPr/>
          </p:nvSpPr>
          <p:spPr>
            <a:xfrm flipH="false" flipV="false" rot="0">
              <a:off x="0" y="0"/>
              <a:ext cx="21960001" cy="1781326"/>
            </a:xfrm>
            <a:custGeom>
              <a:avLst/>
              <a:gdLst/>
              <a:ahLst/>
              <a:cxnLst/>
              <a:rect r="r" b="b" t="t" l="l"/>
              <a:pathLst>
                <a:path h="1781326" w="21960001">
                  <a:moveTo>
                    <a:pt x="0" y="0"/>
                  </a:moveTo>
                  <a:lnTo>
                    <a:pt x="21960001" y="0"/>
                  </a:lnTo>
                  <a:lnTo>
                    <a:pt x="21960001" y="1781326"/>
                  </a:lnTo>
                  <a:lnTo>
                    <a:pt x="0" y="1781326"/>
                  </a:lnTo>
                  <a:close/>
                </a:path>
              </a:pathLst>
            </a:custGeom>
            <a:blipFill>
              <a:blip r:embed="rId7">
                <a:alphaModFix amt="0"/>
              </a:blip>
              <a:stretch>
                <a:fillRect l="0" t="-190209" r="0" b="-190209"/>
              </a:stretch>
            </a:blipFill>
          </p:spPr>
        </p:sp>
        <p:sp>
          <p:nvSpPr>
            <p:cNvPr name="TextBox 22" id="22"/>
            <p:cNvSpPr txBox="true"/>
            <p:nvPr/>
          </p:nvSpPr>
          <p:spPr>
            <a:xfrm>
              <a:off x="0" y="38100"/>
              <a:ext cx="21960002" cy="1743227"/>
            </a:xfrm>
            <a:prstGeom prst="rect">
              <a:avLst/>
            </a:prstGeom>
          </p:spPr>
          <p:txBody>
            <a:bodyPr anchor="ctr" rtlCol="false" tIns="0" lIns="0" bIns="0" rIns="0"/>
            <a:lstStyle/>
            <a:p>
              <a:pPr algn="l">
                <a:lnSpc>
                  <a:spcPts val="7128"/>
                </a:lnSpc>
              </a:pPr>
              <a:r>
                <a:rPr lang="en-US" b="true" sz="660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3. Kết quả của giải pháp đề xuất</a:t>
              </a:r>
            </a:p>
          </p:txBody>
        </p:sp>
      </p:grpSp>
      <p:grpSp>
        <p:nvGrpSpPr>
          <p:cNvPr name="Group 23" id="23"/>
          <p:cNvGrpSpPr/>
          <p:nvPr/>
        </p:nvGrpSpPr>
        <p:grpSpPr>
          <a:xfrm rot="0">
            <a:off x="6350346" y="9676895"/>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7">
                <a:alphaModFix amt="0"/>
              </a:blip>
              <a:stretch>
                <a:fillRect l="0" t="-169587" r="0" b="-169587"/>
              </a:stretch>
            </a:blipFill>
          </p:spPr>
        </p:sp>
        <p:sp>
          <p:nvSpPr>
            <p:cNvPr name="TextBox 25" id="25"/>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6" id="26"/>
          <p:cNvGrpSpPr/>
          <p:nvPr/>
        </p:nvGrpSpPr>
        <p:grpSpPr>
          <a:xfrm rot="0">
            <a:off x="15634421" y="9534525"/>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7">
                <a:alphaModFix amt="0"/>
              </a:blip>
              <a:stretch>
                <a:fillRect l="0" t="-96391" r="0" b="-96391"/>
              </a:stretch>
            </a:blipFill>
          </p:spPr>
        </p:sp>
        <p:sp>
          <p:nvSpPr>
            <p:cNvPr name="TextBox 28" id="28"/>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9</a:t>
              </a:r>
            </a:p>
          </p:txBody>
        </p:sp>
      </p:grpSp>
      <p:sp>
        <p:nvSpPr>
          <p:cNvPr name="Freeform 29" id="29"/>
          <p:cNvSpPr/>
          <p:nvPr/>
        </p:nvSpPr>
        <p:spPr>
          <a:xfrm flipH="false" flipV="false" rot="0">
            <a:off x="2792027" y="4417968"/>
            <a:ext cx="13084230" cy="1463798"/>
          </a:xfrm>
          <a:custGeom>
            <a:avLst/>
            <a:gdLst/>
            <a:ahLst/>
            <a:cxnLst/>
            <a:rect r="r" b="b" t="t" l="l"/>
            <a:pathLst>
              <a:path h="1463798" w="13084230">
                <a:moveTo>
                  <a:pt x="0" y="0"/>
                </a:moveTo>
                <a:lnTo>
                  <a:pt x="13084230" y="0"/>
                </a:lnTo>
                <a:lnTo>
                  <a:pt x="13084230" y="1463799"/>
                </a:lnTo>
                <a:lnTo>
                  <a:pt x="0" y="1463799"/>
                </a:lnTo>
                <a:lnTo>
                  <a:pt x="0" y="0"/>
                </a:lnTo>
                <a:close/>
              </a:path>
            </a:pathLst>
          </a:custGeom>
          <a:blipFill>
            <a:blip r:embed="rId8"/>
            <a:stretch>
              <a:fillRect l="0" t="0" r="0" b="0"/>
            </a:stretch>
          </a:blipFill>
        </p:spPr>
      </p:sp>
      <p:sp>
        <p:nvSpPr>
          <p:cNvPr name="Freeform 30" id="30"/>
          <p:cNvSpPr/>
          <p:nvPr/>
        </p:nvSpPr>
        <p:spPr>
          <a:xfrm flipH="false" flipV="false" rot="0">
            <a:off x="2894331" y="7504884"/>
            <a:ext cx="13084230" cy="1463798"/>
          </a:xfrm>
          <a:custGeom>
            <a:avLst/>
            <a:gdLst/>
            <a:ahLst/>
            <a:cxnLst/>
            <a:rect r="r" b="b" t="t" l="l"/>
            <a:pathLst>
              <a:path h="1463798" w="13084230">
                <a:moveTo>
                  <a:pt x="0" y="0"/>
                </a:moveTo>
                <a:lnTo>
                  <a:pt x="13084230" y="0"/>
                </a:lnTo>
                <a:lnTo>
                  <a:pt x="13084230" y="1463798"/>
                </a:lnTo>
                <a:lnTo>
                  <a:pt x="0" y="1463798"/>
                </a:lnTo>
                <a:lnTo>
                  <a:pt x="0" y="0"/>
                </a:lnTo>
                <a:close/>
              </a:path>
            </a:pathLst>
          </a:custGeom>
          <a:blipFill>
            <a:blip r:embed="rId9"/>
            <a:stretch>
              <a:fillRect l="0" t="0" r="0" b="0"/>
            </a:stretch>
          </a:blipFill>
        </p:spPr>
      </p:sp>
      <p:sp>
        <p:nvSpPr>
          <p:cNvPr name="TextBox 31" id="31"/>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name="TextBox 32" id="32"/>
          <p:cNvSpPr txBox="true"/>
          <p:nvPr/>
        </p:nvSpPr>
        <p:spPr>
          <a:xfrm rot="0">
            <a:off x="1247165" y="2748267"/>
            <a:ext cx="16378561" cy="668655"/>
          </a:xfrm>
          <a:prstGeom prst="rect">
            <a:avLst/>
          </a:prstGeom>
        </p:spPr>
        <p:txBody>
          <a:bodyPr anchor="t" rtlCol="false" tIns="0" lIns="0" bIns="0" rIns="0">
            <a:spAutoFit/>
          </a:bodyPr>
          <a:lstStyle/>
          <a:p>
            <a:pPr algn="l" marL="633413" indent="-316706" lvl="1">
              <a:lnSpc>
                <a:spcPts val="5460"/>
              </a:lnSpc>
              <a:buFont typeface="Arial"/>
              <a:buChar char="•"/>
            </a:pPr>
            <a:r>
              <a:rPr lang="en-US" sz="3500">
                <a:solidFill>
                  <a:srgbClr val="000000"/>
                </a:solidFill>
                <a:latin typeface="Arial"/>
                <a:ea typeface="Arial"/>
                <a:cs typeface="Arial"/>
                <a:sym typeface="Arial"/>
              </a:rPr>
              <a:t>Kết quả mô phỏng coherence (tb_coherence, 5 bước trên 0x000)</a:t>
            </a:r>
          </a:p>
        </p:txBody>
      </p:sp>
      <p:sp>
        <p:nvSpPr>
          <p:cNvPr name="TextBox 33" id="33"/>
          <p:cNvSpPr txBox="true"/>
          <p:nvPr/>
        </p:nvSpPr>
        <p:spPr>
          <a:xfrm rot="0">
            <a:off x="1568422" y="3660901"/>
            <a:ext cx="2447211" cy="457200"/>
          </a:xfrm>
          <a:prstGeom prst="rect">
            <a:avLst/>
          </a:prstGeom>
        </p:spPr>
        <p:txBody>
          <a:bodyPr anchor="t" rtlCol="false" tIns="0" lIns="0" bIns="0" rIns="0">
            <a:spAutoFit/>
          </a:bodyPr>
          <a:lstStyle/>
          <a:p>
            <a:pPr algn="l" marL="647694" indent="-323847" lvl="1">
              <a:lnSpc>
                <a:spcPts val="3599"/>
              </a:lnSpc>
              <a:buFont typeface="Arial"/>
              <a:buChar char="•"/>
            </a:pPr>
            <a:r>
              <a:rPr lang="en-US" sz="2999">
                <a:solidFill>
                  <a:srgbClr val="000000"/>
                </a:solidFill>
                <a:latin typeface="Arial"/>
                <a:ea typeface="Arial"/>
                <a:cs typeface="Arial"/>
                <a:sym typeface="Arial"/>
              </a:rPr>
              <a:t>core0 I→E</a:t>
            </a:r>
          </a:p>
        </p:txBody>
      </p:sp>
      <p:sp>
        <p:nvSpPr>
          <p:cNvPr name="TextBox 34" id="34"/>
          <p:cNvSpPr txBox="true"/>
          <p:nvPr/>
        </p:nvSpPr>
        <p:spPr>
          <a:xfrm rot="0">
            <a:off x="1748260" y="6157992"/>
            <a:ext cx="2984421" cy="438150"/>
          </a:xfrm>
          <a:prstGeom prst="rect">
            <a:avLst/>
          </a:prstGeom>
        </p:spPr>
        <p:txBody>
          <a:bodyPr anchor="t" rtlCol="false" tIns="0" lIns="0" bIns="0" rIns="0">
            <a:spAutoFit/>
          </a:bodyPr>
          <a:lstStyle/>
          <a:p>
            <a:pPr algn="ctr">
              <a:lnSpc>
                <a:spcPts val="3359"/>
              </a:lnSpc>
              <a:spcBef>
                <a:spcPct val="0"/>
              </a:spcBef>
            </a:pPr>
            <a:r>
              <a:rPr lang="en-US" sz="2799">
                <a:solidFill>
                  <a:srgbClr val="FFFFFF"/>
                </a:solidFill>
                <a:latin typeface="Arial"/>
                <a:ea typeface="Arial"/>
                <a:cs typeface="Arial"/>
                <a:sym typeface="Arial"/>
              </a:rPr>
              <a:t>core1 đọc hạ E→S</a:t>
            </a:r>
          </a:p>
        </p:txBody>
      </p:sp>
      <p:sp>
        <p:nvSpPr>
          <p:cNvPr name="TextBox 35" id="35"/>
          <p:cNvSpPr txBox="true"/>
          <p:nvPr/>
        </p:nvSpPr>
        <p:spPr>
          <a:xfrm rot="0">
            <a:off x="1568422" y="6481842"/>
            <a:ext cx="3844885" cy="457200"/>
          </a:xfrm>
          <a:prstGeom prst="rect">
            <a:avLst/>
          </a:prstGeom>
        </p:spPr>
        <p:txBody>
          <a:bodyPr anchor="t" rtlCol="false" tIns="0" lIns="0" bIns="0" rIns="0">
            <a:spAutoFit/>
          </a:bodyPr>
          <a:lstStyle/>
          <a:p>
            <a:pPr algn="l" marL="647694" indent="-323847" lvl="1">
              <a:lnSpc>
                <a:spcPts val="3599"/>
              </a:lnSpc>
              <a:buFont typeface="Arial"/>
              <a:buChar char="•"/>
            </a:pPr>
            <a:r>
              <a:rPr lang="en-US" sz="2999">
                <a:solidFill>
                  <a:srgbClr val="000000"/>
                </a:solidFill>
                <a:latin typeface="Arial"/>
                <a:ea typeface="Arial"/>
                <a:cs typeface="Arial"/>
                <a:sym typeface="Arial"/>
              </a:rPr>
              <a:t>core1 đọc hạ 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124"/>
            <a:ext cx="18291715" cy="10295487"/>
            <a:chOff x="0" y="0"/>
            <a:chExt cx="24388953" cy="13727316"/>
          </a:xfrm>
        </p:grpSpPr>
        <p:sp>
          <p:nvSpPr>
            <p:cNvPr name="Freeform 3" id="3"/>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4" id="4"/>
          <p:cNvGrpSpPr/>
          <p:nvPr/>
        </p:nvGrpSpPr>
        <p:grpSpPr>
          <a:xfrm rot="5400000">
            <a:off x="8668474" y="-8670065"/>
            <a:ext cx="947328" cy="18291715"/>
            <a:chOff x="0" y="0"/>
            <a:chExt cx="1263104" cy="24388953"/>
          </a:xfrm>
        </p:grpSpPr>
        <p:sp>
          <p:nvSpPr>
            <p:cNvPr name="Freeform 5" id="5"/>
            <p:cNvSpPr/>
            <p:nvPr/>
          </p:nvSpPr>
          <p:spPr>
            <a:xfrm flipH="false" flipV="fals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gradFill rotWithShape="true">
              <a:gsLst>
                <a:gs pos="0">
                  <a:srgbClr val="10CD57">
                    <a:alpha val="100000"/>
                  </a:srgbClr>
                </a:gs>
                <a:gs pos="100000">
                  <a:srgbClr val="027159">
                    <a:alpha val="100000"/>
                  </a:srgbClr>
                </a:gs>
              </a:gsLst>
              <a:lin ang="0"/>
            </a:gradFill>
          </p:spPr>
        </p:sp>
      </p:grpSp>
      <p:grpSp>
        <p:nvGrpSpPr>
          <p:cNvPr name="Group 6" id="6"/>
          <p:cNvGrpSpPr/>
          <p:nvPr/>
        </p:nvGrpSpPr>
        <p:grpSpPr>
          <a:xfrm rot="5400000">
            <a:off x="8670331" y="-8672198"/>
            <a:ext cx="947328" cy="18291715"/>
            <a:chOff x="0" y="0"/>
            <a:chExt cx="1263104" cy="24388953"/>
          </a:xfrm>
        </p:grpSpPr>
        <p:sp>
          <p:nvSpPr>
            <p:cNvPr name="Freeform 7" id="7"/>
            <p:cNvSpPr/>
            <p:nvPr/>
          </p:nvSpPr>
          <p:spPr>
            <a:xfrm flipH="false" flipV="tru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blipFill>
              <a:blip r:embed="rId2"/>
              <a:stretch>
                <a:fillRect l="-35093" t="0" r="-35090" b="0"/>
              </a:stretch>
            </a:blipFill>
          </p:spPr>
        </p:sp>
      </p:grpSp>
      <p:sp>
        <p:nvSpPr>
          <p:cNvPr name="TextBox 8" id="8"/>
          <p:cNvSpPr txBox="true"/>
          <p:nvPr/>
        </p:nvSpPr>
        <p:spPr>
          <a:xfrm rot="0">
            <a:off x="451866" y="248326"/>
            <a:ext cx="10947559" cy="424158"/>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9" id="9"/>
          <p:cNvGrpSpPr/>
          <p:nvPr/>
        </p:nvGrpSpPr>
        <p:grpSpPr>
          <a:xfrm rot="0">
            <a:off x="6719973" y="457933"/>
            <a:ext cx="4848044" cy="957948"/>
            <a:chOff x="0" y="0"/>
            <a:chExt cx="6464059" cy="1277264"/>
          </a:xfrm>
        </p:grpSpPr>
        <p:sp>
          <p:nvSpPr>
            <p:cNvPr name="Freeform 10" id="10"/>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1" id="11"/>
          <p:cNvGrpSpPr/>
          <p:nvPr/>
        </p:nvGrpSpPr>
        <p:grpSpPr>
          <a:xfrm rot="0">
            <a:off x="6807460" y="535962"/>
            <a:ext cx="4673079" cy="801872"/>
            <a:chOff x="0" y="0"/>
            <a:chExt cx="6230772" cy="1069162"/>
          </a:xfrm>
        </p:grpSpPr>
        <p:sp>
          <p:nvSpPr>
            <p:cNvPr name="Freeform 12" id="12"/>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3" id="13"/>
          <p:cNvGrpSpPr/>
          <p:nvPr/>
        </p:nvGrpSpPr>
        <p:grpSpPr>
          <a:xfrm rot="0">
            <a:off x="9436446" y="362541"/>
            <a:ext cx="1163307" cy="1152592"/>
            <a:chOff x="0" y="0"/>
            <a:chExt cx="1551076" cy="1536789"/>
          </a:xfrm>
        </p:grpSpPr>
        <p:sp>
          <p:nvSpPr>
            <p:cNvPr name="Freeform 14" id="14"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5" id="15"/>
          <p:cNvGrpSpPr/>
          <p:nvPr/>
        </p:nvGrpSpPr>
        <p:grpSpPr>
          <a:xfrm rot="0">
            <a:off x="7688247" y="398078"/>
            <a:ext cx="1307516" cy="1081516"/>
            <a:chOff x="0" y="0"/>
            <a:chExt cx="1743354" cy="1442022"/>
          </a:xfrm>
        </p:grpSpPr>
        <p:sp>
          <p:nvSpPr>
            <p:cNvPr name="Freeform 16" id="16"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7" id="17"/>
          <p:cNvSpPr/>
          <p:nvPr/>
        </p:nvSpPr>
        <p:spPr>
          <a:xfrm flipH="false" flipV="false" rot="0">
            <a:off x="17262338" y="9405385"/>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8" id="18"/>
          <p:cNvGrpSpPr/>
          <p:nvPr/>
        </p:nvGrpSpPr>
        <p:grpSpPr>
          <a:xfrm rot="0">
            <a:off x="0" y="2124"/>
            <a:ext cx="18291715" cy="10295487"/>
            <a:chOff x="0" y="0"/>
            <a:chExt cx="24388953" cy="13727316"/>
          </a:xfrm>
        </p:grpSpPr>
        <p:sp>
          <p:nvSpPr>
            <p:cNvPr name="Freeform 19" id="19"/>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0" id="20"/>
          <p:cNvGrpSpPr/>
          <p:nvPr/>
        </p:nvGrpSpPr>
        <p:grpSpPr>
          <a:xfrm rot="0">
            <a:off x="908999" y="1555147"/>
            <a:ext cx="16470001" cy="1335996"/>
            <a:chOff x="0" y="0"/>
            <a:chExt cx="21960002" cy="1781327"/>
          </a:xfrm>
        </p:grpSpPr>
        <p:sp>
          <p:nvSpPr>
            <p:cNvPr name="Freeform 21" id="21"/>
            <p:cNvSpPr/>
            <p:nvPr/>
          </p:nvSpPr>
          <p:spPr>
            <a:xfrm flipH="false" flipV="false" rot="0">
              <a:off x="0" y="0"/>
              <a:ext cx="21960001" cy="1781326"/>
            </a:xfrm>
            <a:custGeom>
              <a:avLst/>
              <a:gdLst/>
              <a:ahLst/>
              <a:cxnLst/>
              <a:rect r="r" b="b" t="t" l="l"/>
              <a:pathLst>
                <a:path h="1781326" w="21960001">
                  <a:moveTo>
                    <a:pt x="0" y="0"/>
                  </a:moveTo>
                  <a:lnTo>
                    <a:pt x="21960001" y="0"/>
                  </a:lnTo>
                  <a:lnTo>
                    <a:pt x="21960001" y="1781326"/>
                  </a:lnTo>
                  <a:lnTo>
                    <a:pt x="0" y="1781326"/>
                  </a:lnTo>
                  <a:close/>
                </a:path>
              </a:pathLst>
            </a:custGeom>
            <a:blipFill>
              <a:blip r:embed="rId7">
                <a:alphaModFix amt="0"/>
              </a:blip>
              <a:stretch>
                <a:fillRect l="0" t="-190209" r="0" b="-190209"/>
              </a:stretch>
            </a:blipFill>
          </p:spPr>
        </p:sp>
        <p:sp>
          <p:nvSpPr>
            <p:cNvPr name="TextBox 22" id="22"/>
            <p:cNvSpPr txBox="true"/>
            <p:nvPr/>
          </p:nvSpPr>
          <p:spPr>
            <a:xfrm>
              <a:off x="0" y="38100"/>
              <a:ext cx="21960002" cy="1743227"/>
            </a:xfrm>
            <a:prstGeom prst="rect">
              <a:avLst/>
            </a:prstGeom>
          </p:spPr>
          <p:txBody>
            <a:bodyPr anchor="ctr" rtlCol="false" tIns="0" lIns="0" bIns="0" rIns="0"/>
            <a:lstStyle/>
            <a:p>
              <a:pPr algn="l">
                <a:lnSpc>
                  <a:spcPts val="7128"/>
                </a:lnSpc>
              </a:pPr>
              <a:r>
                <a:rPr lang="en-US" b="true" sz="660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3. Kết quả của giải pháp đề xuất</a:t>
              </a:r>
            </a:p>
          </p:txBody>
        </p:sp>
      </p:grpSp>
      <p:grpSp>
        <p:nvGrpSpPr>
          <p:cNvPr name="Group 23" id="23"/>
          <p:cNvGrpSpPr/>
          <p:nvPr/>
        </p:nvGrpSpPr>
        <p:grpSpPr>
          <a:xfrm rot="0">
            <a:off x="6350346" y="9676895"/>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7">
                <a:alphaModFix amt="0"/>
              </a:blip>
              <a:stretch>
                <a:fillRect l="0" t="-169587" r="0" b="-169587"/>
              </a:stretch>
            </a:blipFill>
          </p:spPr>
        </p:sp>
        <p:sp>
          <p:nvSpPr>
            <p:cNvPr name="TextBox 25" id="25"/>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6" id="26"/>
          <p:cNvGrpSpPr/>
          <p:nvPr/>
        </p:nvGrpSpPr>
        <p:grpSpPr>
          <a:xfrm rot="0">
            <a:off x="15634421" y="9534525"/>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7">
                <a:alphaModFix amt="0"/>
              </a:blip>
              <a:stretch>
                <a:fillRect l="0" t="-96391" r="0" b="-96391"/>
              </a:stretch>
            </a:blipFill>
          </p:spPr>
        </p:sp>
        <p:sp>
          <p:nvSpPr>
            <p:cNvPr name="TextBox 28" id="28"/>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9</a:t>
              </a:r>
            </a:p>
          </p:txBody>
        </p:sp>
      </p:grpSp>
      <p:sp>
        <p:nvSpPr>
          <p:cNvPr name="Freeform 29" id="29"/>
          <p:cNvSpPr/>
          <p:nvPr/>
        </p:nvSpPr>
        <p:spPr>
          <a:xfrm flipH="false" flipV="false" rot="0">
            <a:off x="2894331" y="4434324"/>
            <a:ext cx="13084230" cy="1431088"/>
          </a:xfrm>
          <a:custGeom>
            <a:avLst/>
            <a:gdLst/>
            <a:ahLst/>
            <a:cxnLst/>
            <a:rect r="r" b="b" t="t" l="l"/>
            <a:pathLst>
              <a:path h="1431088" w="13084230">
                <a:moveTo>
                  <a:pt x="0" y="0"/>
                </a:moveTo>
                <a:lnTo>
                  <a:pt x="13084230" y="0"/>
                </a:lnTo>
                <a:lnTo>
                  <a:pt x="13084230" y="1431087"/>
                </a:lnTo>
                <a:lnTo>
                  <a:pt x="0" y="1431087"/>
                </a:lnTo>
                <a:lnTo>
                  <a:pt x="0" y="0"/>
                </a:lnTo>
                <a:close/>
              </a:path>
            </a:pathLst>
          </a:custGeom>
          <a:blipFill>
            <a:blip r:embed="rId8"/>
            <a:stretch>
              <a:fillRect l="0" t="0" r="0" b="0"/>
            </a:stretch>
          </a:blipFill>
        </p:spPr>
      </p:sp>
      <p:sp>
        <p:nvSpPr>
          <p:cNvPr name="Freeform 30" id="30"/>
          <p:cNvSpPr/>
          <p:nvPr/>
        </p:nvSpPr>
        <p:spPr>
          <a:xfrm flipH="false" flipV="false" rot="0">
            <a:off x="2894331" y="7321168"/>
            <a:ext cx="13084230" cy="1488331"/>
          </a:xfrm>
          <a:custGeom>
            <a:avLst/>
            <a:gdLst/>
            <a:ahLst/>
            <a:cxnLst/>
            <a:rect r="r" b="b" t="t" l="l"/>
            <a:pathLst>
              <a:path h="1488331" w="13084230">
                <a:moveTo>
                  <a:pt x="0" y="0"/>
                </a:moveTo>
                <a:lnTo>
                  <a:pt x="13084230" y="0"/>
                </a:lnTo>
                <a:lnTo>
                  <a:pt x="13084230" y="1488331"/>
                </a:lnTo>
                <a:lnTo>
                  <a:pt x="0" y="1488331"/>
                </a:lnTo>
                <a:lnTo>
                  <a:pt x="0" y="0"/>
                </a:lnTo>
                <a:close/>
              </a:path>
            </a:pathLst>
          </a:custGeom>
          <a:blipFill>
            <a:blip r:embed="rId9"/>
            <a:stretch>
              <a:fillRect l="0" t="0" r="0" b="0"/>
            </a:stretch>
          </a:blipFill>
        </p:spPr>
      </p:sp>
      <p:sp>
        <p:nvSpPr>
          <p:cNvPr name="TextBox 31" id="31"/>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name="TextBox 32" id="32"/>
          <p:cNvSpPr txBox="true"/>
          <p:nvPr/>
        </p:nvSpPr>
        <p:spPr>
          <a:xfrm rot="0">
            <a:off x="1247165" y="2748267"/>
            <a:ext cx="16378561" cy="668655"/>
          </a:xfrm>
          <a:prstGeom prst="rect">
            <a:avLst/>
          </a:prstGeom>
        </p:spPr>
        <p:txBody>
          <a:bodyPr anchor="t" rtlCol="false" tIns="0" lIns="0" bIns="0" rIns="0">
            <a:spAutoFit/>
          </a:bodyPr>
          <a:lstStyle/>
          <a:p>
            <a:pPr algn="l" marL="633413" indent="-316706" lvl="1">
              <a:lnSpc>
                <a:spcPts val="5460"/>
              </a:lnSpc>
              <a:buFont typeface="Arial"/>
              <a:buChar char="•"/>
            </a:pPr>
            <a:r>
              <a:rPr lang="en-US" sz="3500">
                <a:solidFill>
                  <a:srgbClr val="000000"/>
                </a:solidFill>
                <a:latin typeface="Arial"/>
                <a:ea typeface="Arial"/>
                <a:cs typeface="Arial"/>
                <a:sym typeface="Arial"/>
              </a:rPr>
              <a:t>Kết quả mô phỏng coherence (tb_coherence, 5 bước trên 0x000)</a:t>
            </a:r>
          </a:p>
        </p:txBody>
      </p:sp>
      <p:sp>
        <p:nvSpPr>
          <p:cNvPr name="TextBox 33" id="33"/>
          <p:cNvSpPr txBox="true"/>
          <p:nvPr/>
        </p:nvSpPr>
        <p:spPr>
          <a:xfrm rot="0">
            <a:off x="1568422" y="3660901"/>
            <a:ext cx="6300431" cy="457200"/>
          </a:xfrm>
          <a:prstGeom prst="rect">
            <a:avLst/>
          </a:prstGeom>
        </p:spPr>
        <p:txBody>
          <a:bodyPr anchor="t" rtlCol="false" tIns="0" lIns="0" bIns="0" rIns="0">
            <a:spAutoFit/>
          </a:bodyPr>
          <a:lstStyle/>
          <a:p>
            <a:pPr algn="l" marL="647694" indent="-323847" lvl="1">
              <a:lnSpc>
                <a:spcPts val="3599"/>
              </a:lnSpc>
              <a:buFont typeface="Arial"/>
              <a:buChar char="•"/>
            </a:pPr>
            <a:r>
              <a:rPr lang="en-US" sz="2999">
                <a:solidFill>
                  <a:srgbClr val="000000"/>
                </a:solidFill>
                <a:latin typeface="Arial"/>
                <a:ea typeface="Arial"/>
                <a:cs typeface="Arial"/>
                <a:sym typeface="Arial"/>
              </a:rPr>
              <a:t>core0 ghi S→M (invalidate core1)</a:t>
            </a:r>
          </a:p>
        </p:txBody>
      </p:sp>
      <p:sp>
        <p:nvSpPr>
          <p:cNvPr name="TextBox 34" id="34"/>
          <p:cNvSpPr txBox="true"/>
          <p:nvPr/>
        </p:nvSpPr>
        <p:spPr>
          <a:xfrm rot="0">
            <a:off x="1748260" y="6157992"/>
            <a:ext cx="2984421" cy="438150"/>
          </a:xfrm>
          <a:prstGeom prst="rect">
            <a:avLst/>
          </a:prstGeom>
        </p:spPr>
        <p:txBody>
          <a:bodyPr anchor="t" rtlCol="false" tIns="0" lIns="0" bIns="0" rIns="0">
            <a:spAutoFit/>
          </a:bodyPr>
          <a:lstStyle/>
          <a:p>
            <a:pPr algn="ctr">
              <a:lnSpc>
                <a:spcPts val="3359"/>
              </a:lnSpc>
              <a:spcBef>
                <a:spcPct val="0"/>
              </a:spcBef>
            </a:pPr>
            <a:r>
              <a:rPr lang="en-US" sz="2799">
                <a:solidFill>
                  <a:srgbClr val="FFFFFF"/>
                </a:solidFill>
                <a:latin typeface="Arial"/>
                <a:ea typeface="Arial"/>
                <a:cs typeface="Arial"/>
                <a:sym typeface="Arial"/>
              </a:rPr>
              <a:t>core1 đọc hạ E→S</a:t>
            </a:r>
          </a:p>
        </p:txBody>
      </p:sp>
      <p:sp>
        <p:nvSpPr>
          <p:cNvPr name="TextBox 35" id="35"/>
          <p:cNvSpPr txBox="true"/>
          <p:nvPr/>
        </p:nvSpPr>
        <p:spPr>
          <a:xfrm rot="0">
            <a:off x="1568422" y="6481842"/>
            <a:ext cx="6916936" cy="457200"/>
          </a:xfrm>
          <a:prstGeom prst="rect">
            <a:avLst/>
          </a:prstGeom>
        </p:spPr>
        <p:txBody>
          <a:bodyPr anchor="t" rtlCol="false" tIns="0" lIns="0" bIns="0" rIns="0">
            <a:spAutoFit/>
          </a:bodyPr>
          <a:lstStyle/>
          <a:p>
            <a:pPr algn="l" marL="647694" indent="-323847" lvl="1">
              <a:lnSpc>
                <a:spcPts val="3599"/>
              </a:lnSpc>
              <a:buFont typeface="Arial"/>
              <a:buChar char="•"/>
            </a:pPr>
            <a:r>
              <a:rPr lang="en-US" sz="2999">
                <a:solidFill>
                  <a:srgbClr val="000000"/>
                </a:solidFill>
                <a:latin typeface="Arial"/>
                <a:ea typeface="Arial"/>
                <a:cs typeface="Arial"/>
                <a:sym typeface="Arial"/>
              </a:rPr>
              <a:t>core1 đọc lại nhận đúng 0x12345678</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124"/>
            <a:ext cx="18291715" cy="10295487"/>
            <a:chOff x="0" y="0"/>
            <a:chExt cx="24388953" cy="13727316"/>
          </a:xfrm>
        </p:grpSpPr>
        <p:sp>
          <p:nvSpPr>
            <p:cNvPr name="Freeform 3" id="3"/>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4" id="4"/>
          <p:cNvGrpSpPr/>
          <p:nvPr/>
        </p:nvGrpSpPr>
        <p:grpSpPr>
          <a:xfrm rot="5400000">
            <a:off x="8668474" y="-8670065"/>
            <a:ext cx="947328" cy="18291715"/>
            <a:chOff x="0" y="0"/>
            <a:chExt cx="1263104" cy="24388953"/>
          </a:xfrm>
        </p:grpSpPr>
        <p:sp>
          <p:nvSpPr>
            <p:cNvPr name="Freeform 5" id="5"/>
            <p:cNvSpPr/>
            <p:nvPr/>
          </p:nvSpPr>
          <p:spPr>
            <a:xfrm flipH="false" flipV="fals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gradFill rotWithShape="true">
              <a:gsLst>
                <a:gs pos="0">
                  <a:srgbClr val="10CD57">
                    <a:alpha val="100000"/>
                  </a:srgbClr>
                </a:gs>
                <a:gs pos="100000">
                  <a:srgbClr val="027159">
                    <a:alpha val="100000"/>
                  </a:srgbClr>
                </a:gs>
              </a:gsLst>
              <a:lin ang="0"/>
            </a:gradFill>
          </p:spPr>
        </p:sp>
      </p:grpSp>
      <p:grpSp>
        <p:nvGrpSpPr>
          <p:cNvPr name="Group 6" id="6"/>
          <p:cNvGrpSpPr/>
          <p:nvPr/>
        </p:nvGrpSpPr>
        <p:grpSpPr>
          <a:xfrm rot="5400000">
            <a:off x="8670331" y="-8672198"/>
            <a:ext cx="947328" cy="18291715"/>
            <a:chOff x="0" y="0"/>
            <a:chExt cx="1263104" cy="24388953"/>
          </a:xfrm>
        </p:grpSpPr>
        <p:sp>
          <p:nvSpPr>
            <p:cNvPr name="Freeform 7" id="7"/>
            <p:cNvSpPr/>
            <p:nvPr/>
          </p:nvSpPr>
          <p:spPr>
            <a:xfrm flipH="false" flipV="tru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blipFill>
              <a:blip r:embed="rId2"/>
              <a:stretch>
                <a:fillRect l="-35093" t="0" r="-35090" b="0"/>
              </a:stretch>
            </a:blipFill>
          </p:spPr>
        </p:sp>
      </p:grpSp>
      <p:sp>
        <p:nvSpPr>
          <p:cNvPr name="TextBox 8" id="8"/>
          <p:cNvSpPr txBox="true"/>
          <p:nvPr/>
        </p:nvSpPr>
        <p:spPr>
          <a:xfrm rot="0">
            <a:off x="451866" y="248326"/>
            <a:ext cx="10947559" cy="424158"/>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9" id="9"/>
          <p:cNvGrpSpPr/>
          <p:nvPr/>
        </p:nvGrpSpPr>
        <p:grpSpPr>
          <a:xfrm rot="0">
            <a:off x="6719973" y="457933"/>
            <a:ext cx="4848044" cy="957948"/>
            <a:chOff x="0" y="0"/>
            <a:chExt cx="6464059" cy="1277264"/>
          </a:xfrm>
        </p:grpSpPr>
        <p:sp>
          <p:nvSpPr>
            <p:cNvPr name="Freeform 10" id="10"/>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1" id="11"/>
          <p:cNvGrpSpPr/>
          <p:nvPr/>
        </p:nvGrpSpPr>
        <p:grpSpPr>
          <a:xfrm rot="0">
            <a:off x="6807460" y="535962"/>
            <a:ext cx="4673079" cy="801872"/>
            <a:chOff x="0" y="0"/>
            <a:chExt cx="6230772" cy="1069162"/>
          </a:xfrm>
        </p:grpSpPr>
        <p:sp>
          <p:nvSpPr>
            <p:cNvPr name="Freeform 12" id="12"/>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3" id="13"/>
          <p:cNvGrpSpPr/>
          <p:nvPr/>
        </p:nvGrpSpPr>
        <p:grpSpPr>
          <a:xfrm rot="0">
            <a:off x="9436446" y="362541"/>
            <a:ext cx="1163307" cy="1152592"/>
            <a:chOff x="0" y="0"/>
            <a:chExt cx="1551076" cy="1536789"/>
          </a:xfrm>
        </p:grpSpPr>
        <p:sp>
          <p:nvSpPr>
            <p:cNvPr name="Freeform 14" id="14"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5" id="15"/>
          <p:cNvGrpSpPr/>
          <p:nvPr/>
        </p:nvGrpSpPr>
        <p:grpSpPr>
          <a:xfrm rot="0">
            <a:off x="7688247" y="398078"/>
            <a:ext cx="1307516" cy="1081516"/>
            <a:chOff x="0" y="0"/>
            <a:chExt cx="1743354" cy="1442022"/>
          </a:xfrm>
        </p:grpSpPr>
        <p:sp>
          <p:nvSpPr>
            <p:cNvPr name="Freeform 16" id="16"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7" id="17"/>
          <p:cNvSpPr/>
          <p:nvPr/>
        </p:nvSpPr>
        <p:spPr>
          <a:xfrm flipH="false" flipV="false" rot="0">
            <a:off x="17262338" y="9405385"/>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8" id="18"/>
          <p:cNvGrpSpPr/>
          <p:nvPr/>
        </p:nvGrpSpPr>
        <p:grpSpPr>
          <a:xfrm rot="0">
            <a:off x="0" y="2124"/>
            <a:ext cx="18291715" cy="10295487"/>
            <a:chOff x="0" y="0"/>
            <a:chExt cx="24388953" cy="13727316"/>
          </a:xfrm>
        </p:grpSpPr>
        <p:sp>
          <p:nvSpPr>
            <p:cNvPr name="Freeform 19" id="19"/>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0" id="20"/>
          <p:cNvGrpSpPr/>
          <p:nvPr/>
        </p:nvGrpSpPr>
        <p:grpSpPr>
          <a:xfrm rot="0">
            <a:off x="908999" y="1555147"/>
            <a:ext cx="16470001" cy="1335996"/>
            <a:chOff x="0" y="0"/>
            <a:chExt cx="21960002" cy="1781327"/>
          </a:xfrm>
        </p:grpSpPr>
        <p:sp>
          <p:nvSpPr>
            <p:cNvPr name="Freeform 21" id="21"/>
            <p:cNvSpPr/>
            <p:nvPr/>
          </p:nvSpPr>
          <p:spPr>
            <a:xfrm flipH="false" flipV="false" rot="0">
              <a:off x="0" y="0"/>
              <a:ext cx="21960001" cy="1781326"/>
            </a:xfrm>
            <a:custGeom>
              <a:avLst/>
              <a:gdLst/>
              <a:ahLst/>
              <a:cxnLst/>
              <a:rect r="r" b="b" t="t" l="l"/>
              <a:pathLst>
                <a:path h="1781326" w="21960001">
                  <a:moveTo>
                    <a:pt x="0" y="0"/>
                  </a:moveTo>
                  <a:lnTo>
                    <a:pt x="21960001" y="0"/>
                  </a:lnTo>
                  <a:lnTo>
                    <a:pt x="21960001" y="1781326"/>
                  </a:lnTo>
                  <a:lnTo>
                    <a:pt x="0" y="1781326"/>
                  </a:lnTo>
                  <a:close/>
                </a:path>
              </a:pathLst>
            </a:custGeom>
            <a:blipFill>
              <a:blip r:embed="rId7">
                <a:alphaModFix amt="0"/>
              </a:blip>
              <a:stretch>
                <a:fillRect l="0" t="-190209" r="0" b="-190209"/>
              </a:stretch>
            </a:blipFill>
          </p:spPr>
        </p:sp>
        <p:sp>
          <p:nvSpPr>
            <p:cNvPr name="TextBox 22" id="22"/>
            <p:cNvSpPr txBox="true"/>
            <p:nvPr/>
          </p:nvSpPr>
          <p:spPr>
            <a:xfrm>
              <a:off x="0" y="38100"/>
              <a:ext cx="21960002" cy="1743227"/>
            </a:xfrm>
            <a:prstGeom prst="rect">
              <a:avLst/>
            </a:prstGeom>
          </p:spPr>
          <p:txBody>
            <a:bodyPr anchor="ctr" rtlCol="false" tIns="0" lIns="0" bIns="0" rIns="0"/>
            <a:lstStyle/>
            <a:p>
              <a:pPr algn="l">
                <a:lnSpc>
                  <a:spcPts val="7128"/>
                </a:lnSpc>
              </a:pPr>
              <a:r>
                <a:rPr lang="en-US" b="true" sz="660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3. Kết quả của giải pháp đề xuất</a:t>
              </a:r>
            </a:p>
          </p:txBody>
        </p:sp>
      </p:grpSp>
      <p:grpSp>
        <p:nvGrpSpPr>
          <p:cNvPr name="Group 23" id="23"/>
          <p:cNvGrpSpPr/>
          <p:nvPr/>
        </p:nvGrpSpPr>
        <p:grpSpPr>
          <a:xfrm rot="0">
            <a:off x="6350346" y="9676895"/>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7">
                <a:alphaModFix amt="0"/>
              </a:blip>
              <a:stretch>
                <a:fillRect l="0" t="-169587" r="0" b="-169587"/>
              </a:stretch>
            </a:blipFill>
          </p:spPr>
        </p:sp>
        <p:sp>
          <p:nvSpPr>
            <p:cNvPr name="TextBox 25" id="25"/>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6" id="26"/>
          <p:cNvGrpSpPr/>
          <p:nvPr/>
        </p:nvGrpSpPr>
        <p:grpSpPr>
          <a:xfrm rot="0">
            <a:off x="15634421" y="9534525"/>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7">
                <a:alphaModFix amt="0"/>
              </a:blip>
              <a:stretch>
                <a:fillRect l="0" t="-96391" r="0" b="-96391"/>
              </a:stretch>
            </a:blipFill>
          </p:spPr>
        </p:sp>
        <p:sp>
          <p:nvSpPr>
            <p:cNvPr name="TextBox 28" id="28"/>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9</a:t>
              </a:r>
            </a:p>
          </p:txBody>
        </p:sp>
      </p:grpSp>
      <p:sp>
        <p:nvSpPr>
          <p:cNvPr name="Freeform 29" id="29"/>
          <p:cNvSpPr/>
          <p:nvPr/>
        </p:nvSpPr>
        <p:spPr>
          <a:xfrm flipH="false" flipV="false" rot="0">
            <a:off x="2681999" y="3750443"/>
            <a:ext cx="13508895" cy="5884812"/>
          </a:xfrm>
          <a:custGeom>
            <a:avLst/>
            <a:gdLst/>
            <a:ahLst/>
            <a:cxnLst/>
            <a:rect r="r" b="b" t="t" l="l"/>
            <a:pathLst>
              <a:path h="5884812" w="13508895">
                <a:moveTo>
                  <a:pt x="0" y="0"/>
                </a:moveTo>
                <a:lnTo>
                  <a:pt x="13508894" y="0"/>
                </a:lnTo>
                <a:lnTo>
                  <a:pt x="13508894" y="5884812"/>
                </a:lnTo>
                <a:lnTo>
                  <a:pt x="0" y="5884812"/>
                </a:lnTo>
                <a:lnTo>
                  <a:pt x="0" y="0"/>
                </a:lnTo>
                <a:close/>
              </a:path>
            </a:pathLst>
          </a:custGeom>
          <a:blipFill>
            <a:blip r:embed="rId8"/>
            <a:stretch>
              <a:fillRect l="0" t="0" r="0" b="0"/>
            </a:stretch>
          </a:blipFill>
        </p:spPr>
      </p:sp>
      <p:sp>
        <p:nvSpPr>
          <p:cNvPr name="TextBox 30" id="30"/>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sp>
        <p:nvSpPr>
          <p:cNvPr name="TextBox 31" id="31"/>
          <p:cNvSpPr txBox="true"/>
          <p:nvPr/>
        </p:nvSpPr>
        <p:spPr>
          <a:xfrm rot="0">
            <a:off x="1247165" y="2748267"/>
            <a:ext cx="16378561" cy="668655"/>
          </a:xfrm>
          <a:prstGeom prst="rect">
            <a:avLst/>
          </a:prstGeom>
        </p:spPr>
        <p:txBody>
          <a:bodyPr anchor="t" rtlCol="false" tIns="0" lIns="0" bIns="0" rIns="0">
            <a:spAutoFit/>
          </a:bodyPr>
          <a:lstStyle/>
          <a:p>
            <a:pPr algn="l" marL="633412" indent="-316706" lvl="1">
              <a:lnSpc>
                <a:spcPts val="5459"/>
              </a:lnSpc>
              <a:buFont typeface="Arial"/>
              <a:buChar char="•"/>
            </a:pPr>
            <a:r>
              <a:rPr lang="en-US" sz="3499">
                <a:solidFill>
                  <a:srgbClr val="000000"/>
                </a:solidFill>
                <a:latin typeface="Arial"/>
                <a:ea typeface="Arial"/>
                <a:cs typeface="Arial"/>
                <a:sym typeface="Arial"/>
              </a:rPr>
              <a:t>Kết quả mô phỏng tích hợp dual-core thật</a:t>
            </a:r>
          </a:p>
        </p:txBody>
      </p:sp>
      <p:sp>
        <p:nvSpPr>
          <p:cNvPr name="AutoShape 32" id="32"/>
          <p:cNvSpPr/>
          <p:nvPr/>
        </p:nvSpPr>
        <p:spPr>
          <a:xfrm>
            <a:off x="2681999" y="5665785"/>
            <a:ext cx="13508895" cy="0"/>
          </a:xfrm>
          <a:prstGeom prst="line">
            <a:avLst/>
          </a:prstGeom>
          <a:ln cap="flat" w="38100">
            <a:solidFill>
              <a:srgbClr val="FFFFFF"/>
            </a:solidFill>
            <a:prstDash val="solid"/>
            <a:headEnd type="none" len="sm" w="sm"/>
            <a:tailEnd type="none" len="sm" w="sm"/>
          </a:ln>
        </p:spPr>
      </p:sp>
      <p:sp>
        <p:nvSpPr>
          <p:cNvPr name="AutoShape 33" id="33"/>
          <p:cNvSpPr/>
          <p:nvPr/>
        </p:nvSpPr>
        <p:spPr>
          <a:xfrm>
            <a:off x="2681999" y="5780085"/>
            <a:ext cx="13508895" cy="0"/>
          </a:xfrm>
          <a:prstGeom prst="line">
            <a:avLst/>
          </a:prstGeom>
          <a:ln cap="flat" w="38100">
            <a:solidFill>
              <a:srgbClr val="FFFFFF"/>
            </a:solidFill>
            <a:prstDash val="solid"/>
            <a:headEnd type="none" len="sm" w="sm"/>
            <a:tailEnd type="none" len="sm" w="sm"/>
          </a:ln>
        </p:spPr>
      </p:sp>
      <p:sp>
        <p:nvSpPr>
          <p:cNvPr name="AutoShape 34" id="34"/>
          <p:cNvSpPr/>
          <p:nvPr/>
        </p:nvSpPr>
        <p:spPr>
          <a:xfrm>
            <a:off x="2681999" y="7012935"/>
            <a:ext cx="13508895" cy="0"/>
          </a:xfrm>
          <a:prstGeom prst="line">
            <a:avLst/>
          </a:prstGeom>
          <a:ln cap="flat" w="38100">
            <a:solidFill>
              <a:srgbClr val="FFFFFF"/>
            </a:solidFill>
            <a:prstDash val="solid"/>
            <a:headEnd type="none" len="sm" w="sm"/>
            <a:tailEnd type="none" len="sm" w="sm"/>
          </a:ln>
        </p:spPr>
      </p:sp>
      <p:sp>
        <p:nvSpPr>
          <p:cNvPr name="AutoShape 35" id="35"/>
          <p:cNvSpPr/>
          <p:nvPr/>
        </p:nvSpPr>
        <p:spPr>
          <a:xfrm>
            <a:off x="2681999" y="7127235"/>
            <a:ext cx="13508895" cy="0"/>
          </a:xfrm>
          <a:prstGeom prst="line">
            <a:avLst/>
          </a:prstGeom>
          <a:ln cap="flat" w="38100">
            <a:solidFill>
              <a:srgbClr val="FFFFFF"/>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name="Group 3" id="3"/>
          <p:cNvGrpSpPr/>
          <p:nvPr/>
        </p:nvGrpSpPr>
        <p:grpSpPr>
          <a:xfrm rot="0">
            <a:off x="0" y="2124"/>
            <a:ext cx="18291715" cy="10295487"/>
            <a:chOff x="0" y="0"/>
            <a:chExt cx="24388953" cy="13727316"/>
          </a:xfrm>
        </p:grpSpPr>
        <p:sp>
          <p:nvSpPr>
            <p:cNvPr name="Freeform 4" id="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5" id="5"/>
          <p:cNvGrpSpPr/>
          <p:nvPr/>
        </p:nvGrpSpPr>
        <p:grpSpPr>
          <a:xfrm rot="0">
            <a:off x="-36214" y="0"/>
            <a:ext cx="6084589" cy="10287000"/>
            <a:chOff x="0" y="0"/>
            <a:chExt cx="8112785" cy="13716000"/>
          </a:xfrm>
        </p:grpSpPr>
        <p:sp>
          <p:nvSpPr>
            <p:cNvPr name="Freeform 6" id="6"/>
            <p:cNvSpPr/>
            <p:nvPr/>
          </p:nvSpPr>
          <p:spPr>
            <a:xfrm flipH="false" flipV="false" rot="0">
              <a:off x="0" y="0"/>
              <a:ext cx="8112760" cy="13716000"/>
            </a:xfrm>
            <a:custGeom>
              <a:avLst/>
              <a:gdLst/>
              <a:ahLst/>
              <a:cxnLst/>
              <a:rect r="r" b="b" t="t" l="l"/>
              <a:pathLst>
                <a:path h="13716000" w="8112760">
                  <a:moveTo>
                    <a:pt x="0" y="0"/>
                  </a:moveTo>
                  <a:lnTo>
                    <a:pt x="8112760" y="0"/>
                  </a:lnTo>
                  <a:lnTo>
                    <a:pt x="8112760" y="13716000"/>
                  </a:lnTo>
                  <a:lnTo>
                    <a:pt x="0" y="13716000"/>
                  </a:lnTo>
                  <a:close/>
                </a:path>
              </a:pathLst>
            </a:custGeom>
            <a:gradFill rotWithShape="true">
              <a:gsLst>
                <a:gs pos="0">
                  <a:srgbClr val="38EF7D">
                    <a:alpha val="100000"/>
                  </a:srgbClr>
                </a:gs>
                <a:gs pos="100000">
                  <a:srgbClr val="11998E">
                    <a:alpha val="100000"/>
                  </a:srgbClr>
                </a:gs>
              </a:gsLst>
              <a:lin ang="5400000"/>
            </a:gradFill>
          </p:spPr>
        </p:sp>
      </p:grpSp>
      <p:grpSp>
        <p:nvGrpSpPr>
          <p:cNvPr name="Group 7" id="7"/>
          <p:cNvGrpSpPr/>
          <p:nvPr/>
        </p:nvGrpSpPr>
        <p:grpSpPr>
          <a:xfrm rot="0">
            <a:off x="-46873" y="0"/>
            <a:ext cx="2707176" cy="10287000"/>
            <a:chOff x="0" y="0"/>
            <a:chExt cx="3609569" cy="13716000"/>
          </a:xfrm>
        </p:grpSpPr>
        <p:sp>
          <p:nvSpPr>
            <p:cNvPr name="Freeform 8" id="8"/>
            <p:cNvSpPr/>
            <p:nvPr/>
          </p:nvSpPr>
          <p:spPr>
            <a:xfrm flipH="false" flipV="true" rot="0">
              <a:off x="0" y="0"/>
              <a:ext cx="3609594" cy="13716000"/>
            </a:xfrm>
            <a:custGeom>
              <a:avLst/>
              <a:gdLst/>
              <a:ahLst/>
              <a:cxnLst/>
              <a:rect r="r" b="b" t="t" l="l"/>
              <a:pathLst>
                <a:path h="13716000" w="3609594">
                  <a:moveTo>
                    <a:pt x="0" y="0"/>
                  </a:moveTo>
                  <a:lnTo>
                    <a:pt x="3609594" y="0"/>
                  </a:lnTo>
                  <a:lnTo>
                    <a:pt x="3609594" y="13716000"/>
                  </a:lnTo>
                  <a:lnTo>
                    <a:pt x="0" y="13716000"/>
                  </a:lnTo>
                  <a:close/>
                </a:path>
              </a:pathLst>
            </a:custGeom>
            <a:blipFill>
              <a:blip r:embed="rId2"/>
              <a:stretch>
                <a:fillRect l="-2907" t="0" r="-2906" b="0"/>
              </a:stretch>
            </a:blipFill>
          </p:spPr>
        </p:sp>
      </p:grpSp>
      <p:sp>
        <p:nvSpPr>
          <p:cNvPr name="TextBox 9" id="9"/>
          <p:cNvSpPr txBox="true"/>
          <p:nvPr/>
        </p:nvSpPr>
        <p:spPr>
          <a:xfrm rot="-5400000">
            <a:off x="-2614688" y="6739452"/>
            <a:ext cx="6076721" cy="425920"/>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10" id="10"/>
          <p:cNvGrpSpPr/>
          <p:nvPr/>
        </p:nvGrpSpPr>
        <p:grpSpPr>
          <a:xfrm rot="0">
            <a:off x="6719973" y="293294"/>
            <a:ext cx="4848044" cy="957948"/>
            <a:chOff x="0" y="0"/>
            <a:chExt cx="6464059" cy="1277264"/>
          </a:xfrm>
        </p:grpSpPr>
        <p:sp>
          <p:nvSpPr>
            <p:cNvPr name="Freeform 11" id="11"/>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2" id="12"/>
          <p:cNvGrpSpPr/>
          <p:nvPr/>
        </p:nvGrpSpPr>
        <p:grpSpPr>
          <a:xfrm rot="0">
            <a:off x="6807460" y="371332"/>
            <a:ext cx="4673079" cy="801872"/>
            <a:chOff x="0" y="0"/>
            <a:chExt cx="6230772" cy="1069162"/>
          </a:xfrm>
        </p:grpSpPr>
        <p:sp>
          <p:nvSpPr>
            <p:cNvPr name="Freeform 13" id="13"/>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4" id="14"/>
          <p:cNvGrpSpPr/>
          <p:nvPr/>
        </p:nvGrpSpPr>
        <p:grpSpPr>
          <a:xfrm rot="0">
            <a:off x="9436446" y="197910"/>
            <a:ext cx="1163307" cy="1152592"/>
            <a:chOff x="0" y="0"/>
            <a:chExt cx="1551076" cy="1536789"/>
          </a:xfrm>
        </p:grpSpPr>
        <p:sp>
          <p:nvSpPr>
            <p:cNvPr name="Freeform 15" id="15"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6" id="16"/>
          <p:cNvGrpSpPr/>
          <p:nvPr/>
        </p:nvGrpSpPr>
        <p:grpSpPr>
          <a:xfrm rot="0">
            <a:off x="7688247" y="233439"/>
            <a:ext cx="1307516" cy="1081516"/>
            <a:chOff x="0" y="0"/>
            <a:chExt cx="1743354" cy="1442022"/>
          </a:xfrm>
        </p:grpSpPr>
        <p:sp>
          <p:nvSpPr>
            <p:cNvPr name="Freeform 17" id="17"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8" id="18"/>
          <p:cNvSpPr/>
          <p:nvPr/>
        </p:nvSpPr>
        <p:spPr>
          <a:xfrm flipH="false" flipV="false" rot="0">
            <a:off x="17262338" y="364607"/>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1705232" y="2175643"/>
            <a:ext cx="15315943" cy="6434480"/>
            <a:chOff x="0" y="0"/>
            <a:chExt cx="20421257" cy="8579307"/>
          </a:xfrm>
        </p:grpSpPr>
        <p:sp>
          <p:nvSpPr>
            <p:cNvPr name="Freeform 20" id="20"/>
            <p:cNvSpPr/>
            <p:nvPr/>
          </p:nvSpPr>
          <p:spPr>
            <a:xfrm flipH="false" flipV="false" rot="0">
              <a:off x="0" y="0"/>
              <a:ext cx="20421346" cy="8579358"/>
            </a:xfrm>
            <a:custGeom>
              <a:avLst/>
              <a:gdLst/>
              <a:ahLst/>
              <a:cxnLst/>
              <a:rect r="r" b="b" t="t" l="l"/>
              <a:pathLst>
                <a:path h="8579358" w="20421346">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7"/>
              <a:stretch>
                <a:fillRect l="-189" t="0" r="-189" b="0"/>
              </a:stretch>
            </a:blipFill>
          </p:spPr>
        </p:sp>
      </p:grpSp>
      <p:grpSp>
        <p:nvGrpSpPr>
          <p:cNvPr name="Group 21" id="21"/>
          <p:cNvGrpSpPr/>
          <p:nvPr/>
        </p:nvGrpSpPr>
        <p:grpSpPr>
          <a:xfrm rot="0">
            <a:off x="1705232" y="2175643"/>
            <a:ext cx="15315943" cy="6434480"/>
            <a:chOff x="0" y="0"/>
            <a:chExt cx="20421257" cy="8579307"/>
          </a:xfrm>
        </p:grpSpPr>
        <p:sp>
          <p:nvSpPr>
            <p:cNvPr name="Freeform 22" id="22"/>
            <p:cNvSpPr/>
            <p:nvPr/>
          </p:nvSpPr>
          <p:spPr>
            <a:xfrm flipH="false" flipV="false" rot="0">
              <a:off x="0" y="0"/>
              <a:ext cx="20421346" cy="8579358"/>
            </a:xfrm>
            <a:custGeom>
              <a:avLst/>
              <a:gdLst/>
              <a:ahLst/>
              <a:cxnLst/>
              <a:rect r="r" b="b" t="t" l="l"/>
              <a:pathLst>
                <a:path h="8579358" w="20421346">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true">
              <a:gsLst>
                <a:gs pos="0">
                  <a:srgbClr val="38EF7D">
                    <a:alpha val="40000"/>
                  </a:srgbClr>
                </a:gs>
                <a:gs pos="100000">
                  <a:srgbClr val="11998E">
                    <a:alpha val="40000"/>
                  </a:srgbClr>
                </a:gs>
              </a:gsLst>
              <a:lin ang="4032715"/>
            </a:gradFill>
          </p:spPr>
        </p:sp>
      </p:grpSp>
      <p:grpSp>
        <p:nvGrpSpPr>
          <p:cNvPr name="Group 23" id="23"/>
          <p:cNvGrpSpPr/>
          <p:nvPr/>
        </p:nvGrpSpPr>
        <p:grpSpPr>
          <a:xfrm rot="0">
            <a:off x="0" y="2124"/>
            <a:ext cx="18291715" cy="10295487"/>
            <a:chOff x="0" y="0"/>
            <a:chExt cx="24388953" cy="13727316"/>
          </a:xfrm>
        </p:grpSpPr>
        <p:sp>
          <p:nvSpPr>
            <p:cNvPr name="Freeform 24" id="2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5" id="25"/>
          <p:cNvGrpSpPr/>
          <p:nvPr/>
        </p:nvGrpSpPr>
        <p:grpSpPr>
          <a:xfrm rot="0">
            <a:off x="10848975" y="9534525"/>
            <a:ext cx="6172200" cy="547688"/>
            <a:chOff x="0" y="0"/>
            <a:chExt cx="8229600" cy="730250"/>
          </a:xfrm>
        </p:grpSpPr>
        <p:sp>
          <p:nvSpPr>
            <p:cNvPr name="Freeform 26" id="26"/>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8">
                <a:alphaModFix amt="0"/>
              </a:blip>
              <a:stretch>
                <a:fillRect l="0" t="-169587" r="0" b="-169587"/>
              </a:stretch>
            </a:blipFill>
          </p:spPr>
        </p:sp>
        <p:sp>
          <p:nvSpPr>
            <p:cNvPr name="TextBox 27" id="27"/>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8" id="28"/>
          <p:cNvGrpSpPr/>
          <p:nvPr/>
        </p:nvGrpSpPr>
        <p:grpSpPr>
          <a:xfrm rot="0">
            <a:off x="15614542" y="498424"/>
            <a:ext cx="4114800" cy="547688"/>
            <a:chOff x="0" y="0"/>
            <a:chExt cx="5486400" cy="730250"/>
          </a:xfrm>
        </p:grpSpPr>
        <p:sp>
          <p:nvSpPr>
            <p:cNvPr name="Freeform 29" id="29"/>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8">
                <a:alphaModFix amt="0"/>
              </a:blip>
              <a:stretch>
                <a:fillRect l="0" t="-96391" r="0" b="-96391"/>
              </a:stretch>
            </a:blipFill>
          </p:spPr>
        </p:sp>
        <p:sp>
          <p:nvSpPr>
            <p:cNvPr name="TextBox 30" id="30"/>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11</a:t>
              </a:r>
            </a:p>
          </p:txBody>
        </p:sp>
      </p:grpSp>
      <p:grpSp>
        <p:nvGrpSpPr>
          <p:cNvPr name="Group 31" id="31"/>
          <p:cNvGrpSpPr/>
          <p:nvPr/>
        </p:nvGrpSpPr>
        <p:grpSpPr>
          <a:xfrm rot="0">
            <a:off x="2480043" y="3638074"/>
            <a:ext cx="13766321" cy="2258930"/>
            <a:chOff x="0" y="0"/>
            <a:chExt cx="18355094" cy="3011907"/>
          </a:xfrm>
        </p:grpSpPr>
        <p:sp>
          <p:nvSpPr>
            <p:cNvPr name="Freeform 32" id="32"/>
            <p:cNvSpPr/>
            <p:nvPr/>
          </p:nvSpPr>
          <p:spPr>
            <a:xfrm flipH="false" flipV="false" rot="0">
              <a:off x="0" y="0"/>
              <a:ext cx="18355097" cy="3011906"/>
            </a:xfrm>
            <a:custGeom>
              <a:avLst/>
              <a:gdLst/>
              <a:ahLst/>
              <a:cxnLst/>
              <a:rect r="r" b="b" t="t" l="l"/>
              <a:pathLst>
                <a:path h="3011906" w="18355097">
                  <a:moveTo>
                    <a:pt x="0" y="0"/>
                  </a:moveTo>
                  <a:lnTo>
                    <a:pt x="18355097" y="0"/>
                  </a:lnTo>
                  <a:lnTo>
                    <a:pt x="18355097" y="3011906"/>
                  </a:lnTo>
                  <a:lnTo>
                    <a:pt x="0" y="3011906"/>
                  </a:lnTo>
                  <a:close/>
                </a:path>
              </a:pathLst>
            </a:custGeom>
            <a:blipFill>
              <a:blip r:embed="rId8">
                <a:alphaModFix amt="0"/>
              </a:blip>
              <a:stretch>
                <a:fillRect l="0" t="-68745" r="0" b="-68745"/>
              </a:stretch>
            </a:blipFill>
          </p:spPr>
        </p:sp>
        <p:sp>
          <p:nvSpPr>
            <p:cNvPr name="TextBox 33" id="33"/>
            <p:cNvSpPr txBox="true"/>
            <p:nvPr/>
          </p:nvSpPr>
          <p:spPr>
            <a:xfrm>
              <a:off x="0" y="38100"/>
              <a:ext cx="18355094" cy="2973807"/>
            </a:xfrm>
            <a:prstGeom prst="rect">
              <a:avLst/>
            </a:prstGeom>
          </p:spPr>
          <p:txBody>
            <a:bodyPr anchor="ctr" rtlCol="false" tIns="0" lIns="0" bIns="0" rIns="0"/>
            <a:lstStyle/>
            <a:p>
              <a:pPr algn="l">
                <a:lnSpc>
                  <a:spcPts val="7873"/>
                </a:lnSpc>
              </a:pPr>
              <a:r>
                <a:rPr lang="en-US" sz="7290" b="true">
                  <a:solidFill>
                    <a:srgbClr val="FFFFFF"/>
                  </a:solidFill>
                  <a:latin typeface="Times New Roman Bold"/>
                  <a:ea typeface="Times New Roman Bold"/>
                  <a:cs typeface="Times New Roman Bold"/>
                  <a:sym typeface="Times New Roman Bold"/>
                </a:rPr>
                <a:t>KẾT LUẬN VÀ HƯỚNG</a:t>
              </a:r>
            </a:p>
            <a:p>
              <a:pPr algn="l">
                <a:lnSpc>
                  <a:spcPts val="7873"/>
                </a:lnSpc>
              </a:pPr>
              <a:r>
                <a:rPr lang="en-US" sz="7290" b="true">
                  <a:solidFill>
                    <a:srgbClr val="FFFFFF"/>
                  </a:solidFill>
                  <a:latin typeface="Times New Roman Bold"/>
                  <a:ea typeface="Times New Roman Bold"/>
                  <a:cs typeface="Times New Roman Bold"/>
                  <a:sym typeface="Times New Roman Bold"/>
                </a:rPr>
                <a:t>PHÁT TRIỂN CỦA ĐỀ TÀI</a:t>
              </a:r>
            </a:p>
          </p:txBody>
        </p:sp>
      </p:grpSp>
      <p:sp>
        <p:nvSpPr>
          <p:cNvPr name="TextBox 34" id="34"/>
          <p:cNvSpPr txBox="true"/>
          <p:nvPr/>
        </p:nvSpPr>
        <p:spPr>
          <a:xfrm rot="0">
            <a:off x="2571483" y="1020985"/>
            <a:ext cx="2896076" cy="2454116"/>
          </a:xfrm>
          <a:prstGeom prst="rect">
            <a:avLst/>
          </a:prstGeom>
        </p:spPr>
        <p:txBody>
          <a:bodyPr anchor="t" rtlCol="false" tIns="0" lIns="0" bIns="0" rIns="0">
            <a:spAutoFit/>
          </a:bodyPr>
          <a:lstStyle/>
          <a:p>
            <a:pPr algn="l">
              <a:lnSpc>
                <a:spcPts val="18630"/>
              </a:lnSpc>
            </a:pPr>
            <a:r>
              <a:rPr lang="en-US" sz="17250" b="true">
                <a:solidFill>
                  <a:srgbClr val="FFFFFF">
                    <a:alpha val="65098"/>
                  </a:srgbClr>
                </a:solidFill>
                <a:latin typeface="Arial Bold"/>
                <a:ea typeface="Arial Bold"/>
                <a:cs typeface="Arial Bold"/>
                <a:sym typeface="Arial Bold"/>
              </a:rPr>
              <a:t>04</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name="Group 3" id="3"/>
          <p:cNvGrpSpPr/>
          <p:nvPr/>
        </p:nvGrpSpPr>
        <p:grpSpPr>
          <a:xfrm rot="0">
            <a:off x="0" y="2124"/>
            <a:ext cx="18291715" cy="10295487"/>
            <a:chOff x="0" y="0"/>
            <a:chExt cx="24388953" cy="13727316"/>
          </a:xfrm>
        </p:grpSpPr>
        <p:sp>
          <p:nvSpPr>
            <p:cNvPr name="Freeform 4" id="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5" id="5"/>
          <p:cNvGrpSpPr/>
          <p:nvPr/>
        </p:nvGrpSpPr>
        <p:grpSpPr>
          <a:xfrm rot="5400000">
            <a:off x="8668474" y="-8670065"/>
            <a:ext cx="947328" cy="18291715"/>
            <a:chOff x="0" y="0"/>
            <a:chExt cx="1263104" cy="24388953"/>
          </a:xfrm>
        </p:grpSpPr>
        <p:sp>
          <p:nvSpPr>
            <p:cNvPr name="Freeform 6" id="6"/>
            <p:cNvSpPr/>
            <p:nvPr/>
          </p:nvSpPr>
          <p:spPr>
            <a:xfrm flipH="false" flipV="fals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gradFill rotWithShape="true">
              <a:gsLst>
                <a:gs pos="0">
                  <a:srgbClr val="10CD57">
                    <a:alpha val="100000"/>
                  </a:srgbClr>
                </a:gs>
                <a:gs pos="100000">
                  <a:srgbClr val="027159">
                    <a:alpha val="100000"/>
                  </a:srgbClr>
                </a:gs>
              </a:gsLst>
              <a:lin ang="0"/>
            </a:gradFill>
          </p:spPr>
        </p:sp>
      </p:grpSp>
      <p:grpSp>
        <p:nvGrpSpPr>
          <p:cNvPr name="Group 7" id="7"/>
          <p:cNvGrpSpPr/>
          <p:nvPr/>
        </p:nvGrpSpPr>
        <p:grpSpPr>
          <a:xfrm rot="5400000">
            <a:off x="8670331" y="-8672198"/>
            <a:ext cx="947328" cy="18291715"/>
            <a:chOff x="0" y="0"/>
            <a:chExt cx="1263104" cy="24388953"/>
          </a:xfrm>
        </p:grpSpPr>
        <p:sp>
          <p:nvSpPr>
            <p:cNvPr name="Freeform 8" id="8"/>
            <p:cNvSpPr/>
            <p:nvPr/>
          </p:nvSpPr>
          <p:spPr>
            <a:xfrm flipH="false" flipV="tru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blipFill>
              <a:blip r:embed="rId2"/>
              <a:stretch>
                <a:fillRect l="-35093" t="0" r="-35090" b="0"/>
              </a:stretch>
            </a:blipFill>
          </p:spPr>
        </p:sp>
      </p:grpSp>
      <p:sp>
        <p:nvSpPr>
          <p:cNvPr name="TextBox 9" id="9"/>
          <p:cNvSpPr txBox="true"/>
          <p:nvPr/>
        </p:nvSpPr>
        <p:spPr>
          <a:xfrm rot="0">
            <a:off x="451866" y="248326"/>
            <a:ext cx="10947559" cy="424158"/>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10" id="10"/>
          <p:cNvGrpSpPr/>
          <p:nvPr/>
        </p:nvGrpSpPr>
        <p:grpSpPr>
          <a:xfrm rot="0">
            <a:off x="6719973" y="457933"/>
            <a:ext cx="4848044" cy="957948"/>
            <a:chOff x="0" y="0"/>
            <a:chExt cx="6464059" cy="1277264"/>
          </a:xfrm>
        </p:grpSpPr>
        <p:sp>
          <p:nvSpPr>
            <p:cNvPr name="Freeform 11" id="11"/>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2" id="12"/>
          <p:cNvGrpSpPr/>
          <p:nvPr/>
        </p:nvGrpSpPr>
        <p:grpSpPr>
          <a:xfrm rot="0">
            <a:off x="6807460" y="535962"/>
            <a:ext cx="4673079" cy="801872"/>
            <a:chOff x="0" y="0"/>
            <a:chExt cx="6230772" cy="1069162"/>
          </a:xfrm>
        </p:grpSpPr>
        <p:sp>
          <p:nvSpPr>
            <p:cNvPr name="Freeform 13" id="13"/>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4" id="14"/>
          <p:cNvGrpSpPr/>
          <p:nvPr/>
        </p:nvGrpSpPr>
        <p:grpSpPr>
          <a:xfrm rot="0">
            <a:off x="9436446" y="362541"/>
            <a:ext cx="1163307" cy="1152592"/>
            <a:chOff x="0" y="0"/>
            <a:chExt cx="1551076" cy="1536789"/>
          </a:xfrm>
        </p:grpSpPr>
        <p:sp>
          <p:nvSpPr>
            <p:cNvPr name="Freeform 15" id="15"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6" id="16"/>
          <p:cNvGrpSpPr/>
          <p:nvPr/>
        </p:nvGrpSpPr>
        <p:grpSpPr>
          <a:xfrm rot="0">
            <a:off x="7688247" y="398078"/>
            <a:ext cx="1307516" cy="1081516"/>
            <a:chOff x="0" y="0"/>
            <a:chExt cx="1743354" cy="1442022"/>
          </a:xfrm>
        </p:grpSpPr>
        <p:sp>
          <p:nvSpPr>
            <p:cNvPr name="Freeform 17" id="17"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8" id="18"/>
          <p:cNvSpPr/>
          <p:nvPr/>
        </p:nvSpPr>
        <p:spPr>
          <a:xfrm flipH="false" flipV="false" rot="0">
            <a:off x="17262338" y="9405385"/>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0" y="2124"/>
            <a:ext cx="18291715" cy="10295487"/>
            <a:chOff x="0" y="0"/>
            <a:chExt cx="24388953" cy="13727316"/>
          </a:xfrm>
        </p:grpSpPr>
        <p:sp>
          <p:nvSpPr>
            <p:cNvPr name="Freeform 20" id="20"/>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1" id="21"/>
          <p:cNvGrpSpPr/>
          <p:nvPr/>
        </p:nvGrpSpPr>
        <p:grpSpPr>
          <a:xfrm rot="0">
            <a:off x="908999" y="1555147"/>
            <a:ext cx="16470001" cy="1335996"/>
            <a:chOff x="0" y="0"/>
            <a:chExt cx="21960002" cy="1781327"/>
          </a:xfrm>
        </p:grpSpPr>
        <p:sp>
          <p:nvSpPr>
            <p:cNvPr name="Freeform 22" id="22"/>
            <p:cNvSpPr/>
            <p:nvPr/>
          </p:nvSpPr>
          <p:spPr>
            <a:xfrm flipH="false" flipV="false" rot="0">
              <a:off x="0" y="0"/>
              <a:ext cx="21960001" cy="1781326"/>
            </a:xfrm>
            <a:custGeom>
              <a:avLst/>
              <a:gdLst/>
              <a:ahLst/>
              <a:cxnLst/>
              <a:rect r="r" b="b" t="t" l="l"/>
              <a:pathLst>
                <a:path h="1781326" w="21960001">
                  <a:moveTo>
                    <a:pt x="0" y="0"/>
                  </a:moveTo>
                  <a:lnTo>
                    <a:pt x="21960001" y="0"/>
                  </a:lnTo>
                  <a:lnTo>
                    <a:pt x="21960001" y="1781326"/>
                  </a:lnTo>
                  <a:lnTo>
                    <a:pt x="0" y="1781326"/>
                  </a:lnTo>
                  <a:close/>
                </a:path>
              </a:pathLst>
            </a:custGeom>
            <a:blipFill>
              <a:blip r:embed="rId7">
                <a:alphaModFix amt="0"/>
              </a:blip>
              <a:stretch>
                <a:fillRect l="0" t="-190209" r="0" b="-190209"/>
              </a:stretch>
            </a:blipFill>
          </p:spPr>
        </p:sp>
        <p:sp>
          <p:nvSpPr>
            <p:cNvPr name="TextBox 23" id="23"/>
            <p:cNvSpPr txBox="true"/>
            <p:nvPr/>
          </p:nvSpPr>
          <p:spPr>
            <a:xfrm>
              <a:off x="0" y="38100"/>
              <a:ext cx="21960002" cy="1743227"/>
            </a:xfrm>
            <a:prstGeom prst="rect">
              <a:avLst/>
            </a:prstGeom>
          </p:spPr>
          <p:txBody>
            <a:bodyPr anchor="ctr" rtlCol="false" tIns="0" lIns="0" bIns="0" rIns="0"/>
            <a:lstStyle/>
            <a:p>
              <a:pPr algn="l">
                <a:lnSpc>
                  <a:spcPts val="7128"/>
                </a:lnSpc>
              </a:pPr>
              <a:r>
                <a:rPr lang="en-US" b="true" sz="660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4. Kết luận và hướng phát triển của đề tài</a:t>
              </a:r>
            </a:p>
          </p:txBody>
        </p:sp>
      </p:grpSp>
      <p:sp>
        <p:nvSpPr>
          <p:cNvPr name="TextBox 24" id="24"/>
          <p:cNvSpPr txBox="true"/>
          <p:nvPr/>
        </p:nvSpPr>
        <p:spPr>
          <a:xfrm rot="0">
            <a:off x="1000439" y="2933262"/>
            <a:ext cx="16287121" cy="4097654"/>
          </a:xfrm>
          <a:prstGeom prst="rect">
            <a:avLst/>
          </a:prstGeom>
        </p:spPr>
        <p:txBody>
          <a:bodyPr anchor="t" rtlCol="false" tIns="0" lIns="0" bIns="0" rIns="0">
            <a:spAutoFit/>
          </a:bodyPr>
          <a:lstStyle/>
          <a:p>
            <a:pPr algn="l" marL="633416" indent="-316708" lvl="1">
              <a:lnSpc>
                <a:spcPts val="5460"/>
              </a:lnSpc>
              <a:buFont typeface="Arial"/>
              <a:buChar char="•"/>
            </a:pPr>
            <a:r>
              <a:rPr lang="en-US" b="true" sz="3500">
                <a:solidFill>
                  <a:srgbClr val="000000"/>
                </a:solidFill>
                <a:latin typeface="Arial Bold"/>
                <a:ea typeface="Arial Bold"/>
                <a:cs typeface="Arial Bold"/>
                <a:sym typeface="Arial Bold"/>
              </a:rPr>
              <a:t>Kết luận:</a:t>
            </a:r>
            <a:r>
              <a:rPr lang="en-US" sz="3500">
                <a:solidFill>
                  <a:srgbClr val="000000"/>
                </a:solidFill>
                <a:latin typeface="Arial"/>
                <a:ea typeface="Arial"/>
                <a:cs typeface="Arial"/>
                <a:sym typeface="Arial"/>
              </a:rPr>
              <a:t> Đã nâng cấp thành công dual-core Ibex sang kiến trúc cache-coherent directory-based MESI + crossbar, kiểm chứng coherence đúng trên cả mô phỏng đơn vị lẫn tích hợp 2 lõi thật.</a:t>
            </a:r>
          </a:p>
          <a:p>
            <a:pPr algn="l" marL="633416" indent="-316708" lvl="1">
              <a:lnSpc>
                <a:spcPts val="5460"/>
              </a:lnSpc>
              <a:buFont typeface="Arial"/>
              <a:buChar char="•"/>
            </a:pPr>
            <a:r>
              <a:rPr lang="en-US" b="true" sz="3500">
                <a:solidFill>
                  <a:srgbClr val="000000"/>
                </a:solidFill>
                <a:latin typeface="Arial Bold"/>
                <a:ea typeface="Arial Bold"/>
                <a:cs typeface="Arial Bold"/>
                <a:sym typeface="Arial Bold"/>
              </a:rPr>
              <a:t>Hướng phát triển:</a:t>
            </a:r>
            <a:r>
              <a:rPr lang="en-US" sz="3500">
                <a:solidFill>
                  <a:srgbClr val="000000"/>
                </a:solidFill>
                <a:latin typeface="Arial"/>
                <a:ea typeface="Arial"/>
                <a:cs typeface="Arial"/>
                <a:sym typeface="Arial"/>
              </a:rPr>
              <a:t> cache non-blocking (nhiều outstanding, cần thêm tag ở crossbar); mở rộng &gt;2 core / nhiều bank; nâng MESI→MOESI (chia sẻ dirty); thay crossbar bằng NoC/AXI; thêm đo đạc băng thông/độ trễ.</a:t>
            </a:r>
          </a:p>
        </p:txBody>
      </p:sp>
      <p:grpSp>
        <p:nvGrpSpPr>
          <p:cNvPr name="Group 25" id="25"/>
          <p:cNvGrpSpPr/>
          <p:nvPr/>
        </p:nvGrpSpPr>
        <p:grpSpPr>
          <a:xfrm rot="0">
            <a:off x="6350346" y="9534525"/>
            <a:ext cx="6172200" cy="547688"/>
            <a:chOff x="0" y="0"/>
            <a:chExt cx="8229600" cy="730250"/>
          </a:xfrm>
        </p:grpSpPr>
        <p:sp>
          <p:nvSpPr>
            <p:cNvPr name="Freeform 26" id="26"/>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7">
                <a:alphaModFix amt="0"/>
              </a:blip>
              <a:stretch>
                <a:fillRect l="0" t="-169587" r="0" b="-169587"/>
              </a:stretch>
            </a:blipFill>
          </p:spPr>
        </p:sp>
        <p:sp>
          <p:nvSpPr>
            <p:cNvPr name="TextBox 27" id="27"/>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8" id="28"/>
          <p:cNvGrpSpPr/>
          <p:nvPr/>
        </p:nvGrpSpPr>
        <p:grpSpPr>
          <a:xfrm rot="0">
            <a:off x="15634421" y="9534525"/>
            <a:ext cx="4114800" cy="547688"/>
            <a:chOff x="0" y="0"/>
            <a:chExt cx="5486400" cy="730250"/>
          </a:xfrm>
        </p:grpSpPr>
        <p:sp>
          <p:nvSpPr>
            <p:cNvPr name="Freeform 29" id="29"/>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7">
                <a:alphaModFix amt="0"/>
              </a:blip>
              <a:stretch>
                <a:fillRect l="0" t="-96391" r="0" b="-96391"/>
              </a:stretch>
            </a:blipFill>
          </p:spPr>
        </p:sp>
        <p:sp>
          <p:nvSpPr>
            <p:cNvPr name="TextBox 30" id="30"/>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12</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name="Group 3" id="3"/>
          <p:cNvGrpSpPr/>
          <p:nvPr/>
        </p:nvGrpSpPr>
        <p:grpSpPr>
          <a:xfrm rot="0">
            <a:off x="0" y="2124"/>
            <a:ext cx="18291715" cy="10295487"/>
            <a:chOff x="0" y="0"/>
            <a:chExt cx="24388953" cy="13727316"/>
          </a:xfrm>
        </p:grpSpPr>
        <p:sp>
          <p:nvSpPr>
            <p:cNvPr name="Freeform 4" id="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5" id="5"/>
          <p:cNvGrpSpPr/>
          <p:nvPr/>
        </p:nvGrpSpPr>
        <p:grpSpPr>
          <a:xfrm rot="5400000">
            <a:off x="8668474" y="-8670065"/>
            <a:ext cx="947328" cy="18291715"/>
            <a:chOff x="0" y="0"/>
            <a:chExt cx="1263104" cy="24388953"/>
          </a:xfrm>
        </p:grpSpPr>
        <p:sp>
          <p:nvSpPr>
            <p:cNvPr name="Freeform 6" id="6"/>
            <p:cNvSpPr/>
            <p:nvPr/>
          </p:nvSpPr>
          <p:spPr>
            <a:xfrm flipH="false" flipV="fals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gradFill rotWithShape="true">
              <a:gsLst>
                <a:gs pos="0">
                  <a:srgbClr val="10CD57">
                    <a:alpha val="100000"/>
                  </a:srgbClr>
                </a:gs>
                <a:gs pos="100000">
                  <a:srgbClr val="027159">
                    <a:alpha val="100000"/>
                  </a:srgbClr>
                </a:gs>
              </a:gsLst>
              <a:lin ang="0"/>
            </a:gradFill>
          </p:spPr>
        </p:sp>
      </p:grpSp>
      <p:grpSp>
        <p:nvGrpSpPr>
          <p:cNvPr name="Group 7" id="7"/>
          <p:cNvGrpSpPr/>
          <p:nvPr/>
        </p:nvGrpSpPr>
        <p:grpSpPr>
          <a:xfrm rot="5400000">
            <a:off x="8670331" y="-8672198"/>
            <a:ext cx="947328" cy="18291715"/>
            <a:chOff x="0" y="0"/>
            <a:chExt cx="1263104" cy="24388953"/>
          </a:xfrm>
        </p:grpSpPr>
        <p:sp>
          <p:nvSpPr>
            <p:cNvPr name="Freeform 8" id="8"/>
            <p:cNvSpPr/>
            <p:nvPr/>
          </p:nvSpPr>
          <p:spPr>
            <a:xfrm flipH="false" flipV="tru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blipFill>
              <a:blip r:embed="rId2"/>
              <a:stretch>
                <a:fillRect l="-35093" t="0" r="-35090" b="0"/>
              </a:stretch>
            </a:blipFill>
          </p:spPr>
        </p:sp>
      </p:grpSp>
      <p:sp>
        <p:nvSpPr>
          <p:cNvPr name="TextBox 9" id="9"/>
          <p:cNvSpPr txBox="true"/>
          <p:nvPr/>
        </p:nvSpPr>
        <p:spPr>
          <a:xfrm rot="0">
            <a:off x="451866" y="248326"/>
            <a:ext cx="10947559" cy="424158"/>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10" id="10"/>
          <p:cNvGrpSpPr/>
          <p:nvPr/>
        </p:nvGrpSpPr>
        <p:grpSpPr>
          <a:xfrm rot="0">
            <a:off x="6719973" y="457933"/>
            <a:ext cx="4848044" cy="957948"/>
            <a:chOff x="0" y="0"/>
            <a:chExt cx="6464059" cy="1277264"/>
          </a:xfrm>
        </p:grpSpPr>
        <p:sp>
          <p:nvSpPr>
            <p:cNvPr name="Freeform 11" id="11"/>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2" id="12"/>
          <p:cNvGrpSpPr/>
          <p:nvPr/>
        </p:nvGrpSpPr>
        <p:grpSpPr>
          <a:xfrm rot="0">
            <a:off x="6807460" y="535962"/>
            <a:ext cx="4673079" cy="801872"/>
            <a:chOff x="0" y="0"/>
            <a:chExt cx="6230772" cy="1069162"/>
          </a:xfrm>
        </p:grpSpPr>
        <p:sp>
          <p:nvSpPr>
            <p:cNvPr name="Freeform 13" id="13"/>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4" id="14"/>
          <p:cNvGrpSpPr/>
          <p:nvPr/>
        </p:nvGrpSpPr>
        <p:grpSpPr>
          <a:xfrm rot="0">
            <a:off x="9436446" y="362541"/>
            <a:ext cx="1163307" cy="1152592"/>
            <a:chOff x="0" y="0"/>
            <a:chExt cx="1551076" cy="1536789"/>
          </a:xfrm>
        </p:grpSpPr>
        <p:sp>
          <p:nvSpPr>
            <p:cNvPr name="Freeform 15" id="15"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6" id="16"/>
          <p:cNvGrpSpPr/>
          <p:nvPr/>
        </p:nvGrpSpPr>
        <p:grpSpPr>
          <a:xfrm rot="0">
            <a:off x="7688247" y="398078"/>
            <a:ext cx="1307516" cy="1081516"/>
            <a:chOff x="0" y="0"/>
            <a:chExt cx="1743354" cy="1442022"/>
          </a:xfrm>
        </p:grpSpPr>
        <p:sp>
          <p:nvSpPr>
            <p:cNvPr name="Freeform 17" id="17"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8" id="18"/>
          <p:cNvSpPr/>
          <p:nvPr/>
        </p:nvSpPr>
        <p:spPr>
          <a:xfrm flipH="false" flipV="false" rot="0">
            <a:off x="17262338" y="9405385"/>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0" y="2124"/>
            <a:ext cx="18291715" cy="10295487"/>
            <a:chOff x="0" y="0"/>
            <a:chExt cx="24388953" cy="13727316"/>
          </a:xfrm>
        </p:grpSpPr>
        <p:sp>
          <p:nvSpPr>
            <p:cNvPr name="Freeform 20" id="20"/>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1" id="21"/>
          <p:cNvGrpSpPr/>
          <p:nvPr/>
        </p:nvGrpSpPr>
        <p:grpSpPr>
          <a:xfrm rot="0">
            <a:off x="908999" y="1555147"/>
            <a:ext cx="16470001" cy="1335996"/>
            <a:chOff x="0" y="0"/>
            <a:chExt cx="21960002" cy="1781327"/>
          </a:xfrm>
        </p:grpSpPr>
        <p:sp>
          <p:nvSpPr>
            <p:cNvPr name="Freeform 22" id="22"/>
            <p:cNvSpPr/>
            <p:nvPr/>
          </p:nvSpPr>
          <p:spPr>
            <a:xfrm flipH="false" flipV="false" rot="0">
              <a:off x="0" y="0"/>
              <a:ext cx="21960001" cy="1781326"/>
            </a:xfrm>
            <a:custGeom>
              <a:avLst/>
              <a:gdLst/>
              <a:ahLst/>
              <a:cxnLst/>
              <a:rect r="r" b="b" t="t" l="l"/>
              <a:pathLst>
                <a:path h="1781326" w="21960001">
                  <a:moveTo>
                    <a:pt x="0" y="0"/>
                  </a:moveTo>
                  <a:lnTo>
                    <a:pt x="21960001" y="0"/>
                  </a:lnTo>
                  <a:lnTo>
                    <a:pt x="21960001" y="1781326"/>
                  </a:lnTo>
                  <a:lnTo>
                    <a:pt x="0" y="1781326"/>
                  </a:lnTo>
                  <a:close/>
                </a:path>
              </a:pathLst>
            </a:custGeom>
            <a:blipFill>
              <a:blip r:embed="rId7">
                <a:alphaModFix amt="0"/>
              </a:blip>
              <a:stretch>
                <a:fillRect l="0" t="-190209" r="0" b="-190209"/>
              </a:stretch>
            </a:blipFill>
          </p:spPr>
        </p:sp>
        <p:sp>
          <p:nvSpPr>
            <p:cNvPr name="TextBox 23" id="23"/>
            <p:cNvSpPr txBox="true"/>
            <p:nvPr/>
          </p:nvSpPr>
          <p:spPr>
            <a:xfrm>
              <a:off x="0" y="38100"/>
              <a:ext cx="21960002" cy="1743227"/>
            </a:xfrm>
            <a:prstGeom prst="rect">
              <a:avLst/>
            </a:prstGeom>
          </p:spPr>
          <p:txBody>
            <a:bodyPr anchor="ctr" rtlCol="false" tIns="0" lIns="0" bIns="0" rIns="0"/>
            <a:lstStyle/>
            <a:p>
              <a:pPr algn="l">
                <a:lnSpc>
                  <a:spcPts val="7128"/>
                </a:lnSpc>
              </a:pPr>
              <a:r>
                <a:rPr lang="en-US" b="true" sz="660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Tài liệu tham khảo</a:t>
              </a:r>
            </a:p>
          </p:txBody>
        </p:sp>
      </p:grpSp>
      <p:sp>
        <p:nvSpPr>
          <p:cNvPr name="TextBox 24" id="24"/>
          <p:cNvSpPr txBox="true"/>
          <p:nvPr/>
        </p:nvSpPr>
        <p:spPr>
          <a:xfrm rot="0">
            <a:off x="1000439" y="2748267"/>
            <a:ext cx="16287121" cy="1354454"/>
          </a:xfrm>
          <a:prstGeom prst="rect">
            <a:avLst/>
          </a:prstGeom>
        </p:spPr>
        <p:txBody>
          <a:bodyPr anchor="t" rtlCol="false" tIns="0" lIns="0" bIns="0" rIns="0">
            <a:spAutoFit/>
          </a:bodyPr>
          <a:lstStyle/>
          <a:p>
            <a:pPr algn="l" marL="633416" indent="-316708" lvl="1">
              <a:lnSpc>
                <a:spcPts val="5460"/>
              </a:lnSpc>
              <a:buFont typeface="Arial"/>
              <a:buChar char="•"/>
            </a:pPr>
            <a:r>
              <a:rPr lang="en-US" b="true" sz="3500">
                <a:solidFill>
                  <a:srgbClr val="000000"/>
                </a:solidFill>
                <a:latin typeface="Arial Bold"/>
                <a:ea typeface="Arial Bold"/>
                <a:cs typeface="Arial Bold"/>
                <a:sym typeface="Arial Bold"/>
              </a:rPr>
              <a:t>lowRISC - Developing the Silicon Commons:</a:t>
            </a:r>
            <a:r>
              <a:rPr lang="en-US" sz="3500">
                <a:solidFill>
                  <a:srgbClr val="000000"/>
                </a:solidFill>
                <a:latin typeface="Arial"/>
                <a:ea typeface="Arial"/>
                <a:cs typeface="Arial"/>
                <a:sym typeface="Arial"/>
              </a:rPr>
              <a:t> “Ibex RISC-V Core”, GitHub Repository.</a:t>
            </a:r>
          </a:p>
        </p:txBody>
      </p:sp>
      <p:grpSp>
        <p:nvGrpSpPr>
          <p:cNvPr name="Group 25" id="25"/>
          <p:cNvGrpSpPr/>
          <p:nvPr/>
        </p:nvGrpSpPr>
        <p:grpSpPr>
          <a:xfrm rot="0">
            <a:off x="6350346" y="9534525"/>
            <a:ext cx="6172200" cy="547688"/>
            <a:chOff x="0" y="0"/>
            <a:chExt cx="8229600" cy="730250"/>
          </a:xfrm>
        </p:grpSpPr>
        <p:sp>
          <p:nvSpPr>
            <p:cNvPr name="Freeform 26" id="26"/>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7">
                <a:alphaModFix amt="0"/>
              </a:blip>
              <a:stretch>
                <a:fillRect l="0" t="-169587" r="0" b="-169587"/>
              </a:stretch>
            </a:blipFill>
          </p:spPr>
        </p:sp>
        <p:sp>
          <p:nvSpPr>
            <p:cNvPr name="TextBox 27" id="27"/>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8" id="28"/>
          <p:cNvGrpSpPr/>
          <p:nvPr/>
        </p:nvGrpSpPr>
        <p:grpSpPr>
          <a:xfrm rot="0">
            <a:off x="15634421" y="9534525"/>
            <a:ext cx="4114800" cy="547688"/>
            <a:chOff x="0" y="0"/>
            <a:chExt cx="5486400" cy="730250"/>
          </a:xfrm>
        </p:grpSpPr>
        <p:sp>
          <p:nvSpPr>
            <p:cNvPr name="Freeform 29" id="29"/>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7">
                <a:alphaModFix amt="0"/>
              </a:blip>
              <a:stretch>
                <a:fillRect l="0" t="-96391" r="0" b="-96391"/>
              </a:stretch>
            </a:blipFill>
          </p:spPr>
        </p:sp>
        <p:sp>
          <p:nvSpPr>
            <p:cNvPr name="TextBox 30" id="30"/>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13</a:t>
              </a:r>
            </a:p>
          </p:txBody>
        </p:sp>
      </p:grpSp>
      <p:sp>
        <p:nvSpPr>
          <p:cNvPr name="TextBox 31" id="31"/>
          <p:cNvSpPr txBox="true"/>
          <p:nvPr/>
        </p:nvSpPr>
        <p:spPr>
          <a:xfrm rot="0">
            <a:off x="1697141" y="4344866"/>
            <a:ext cx="15562159" cy="542925"/>
          </a:xfrm>
          <a:prstGeom prst="rect">
            <a:avLst/>
          </a:prstGeom>
        </p:spPr>
        <p:txBody>
          <a:bodyPr anchor="t" rtlCol="false" tIns="0" lIns="0" bIns="0" rIns="0">
            <a:spAutoFit/>
          </a:bodyPr>
          <a:lstStyle/>
          <a:p>
            <a:pPr algn="just">
              <a:lnSpc>
                <a:spcPts val="4199"/>
              </a:lnSpc>
              <a:spcBef>
                <a:spcPct val="0"/>
              </a:spcBef>
            </a:pPr>
            <a:r>
              <a:rPr lang="en-US" b="true" sz="3499">
                <a:solidFill>
                  <a:srgbClr val="000000"/>
                </a:solidFill>
                <a:latin typeface="Arial Bold"/>
                <a:ea typeface="Arial Bold"/>
                <a:cs typeface="Arial Bold"/>
                <a:sym typeface="Arial Bold"/>
                <a:hlinkClick r:id="rId8" tooltip="https://github.com/lowRISC/ibex?tab=readme-ov-file"/>
              </a:rPr>
              <a:t>Link:</a:t>
            </a:r>
            <a:r>
              <a:rPr lang="en-US" sz="3499">
                <a:solidFill>
                  <a:srgbClr val="000000"/>
                </a:solidFill>
                <a:latin typeface="Arial"/>
                <a:ea typeface="Arial"/>
                <a:cs typeface="Arial"/>
                <a:sym typeface="Arial"/>
              </a:rPr>
              <a:t> </a:t>
            </a:r>
            <a:r>
              <a:rPr lang="en-US" sz="3499" u="sng">
                <a:solidFill>
                  <a:srgbClr val="000000"/>
                </a:solidFill>
                <a:latin typeface="Arial"/>
                <a:ea typeface="Arial"/>
                <a:cs typeface="Arial"/>
                <a:sym typeface="Arial"/>
                <a:hlinkClick r:id="rId9" tooltip="https://github.com/lowRISC/ibex?tab=readme-ov-file"/>
              </a:rPr>
              <a:t>https://github.com/lowRISC/ibex?tab=readme-ov-file</a:t>
            </a:r>
          </a:p>
        </p:txBody>
      </p:sp>
      <p:sp>
        <p:nvSpPr>
          <p:cNvPr name="TextBox 32" id="32"/>
          <p:cNvSpPr txBox="true"/>
          <p:nvPr/>
        </p:nvSpPr>
        <p:spPr>
          <a:xfrm rot="0">
            <a:off x="972179" y="5000625"/>
            <a:ext cx="16287121" cy="4097654"/>
          </a:xfrm>
          <a:prstGeom prst="rect">
            <a:avLst/>
          </a:prstGeom>
        </p:spPr>
        <p:txBody>
          <a:bodyPr anchor="t" rtlCol="false" tIns="0" lIns="0" bIns="0" rIns="0">
            <a:spAutoFit/>
          </a:bodyPr>
          <a:lstStyle/>
          <a:p>
            <a:pPr algn="l" marL="633416" indent="-316708" lvl="1">
              <a:lnSpc>
                <a:spcPts val="5460"/>
              </a:lnSpc>
              <a:buFont typeface="Arial"/>
              <a:buChar char="•"/>
            </a:pPr>
            <a:r>
              <a:rPr lang="en-US" sz="3500">
                <a:solidFill>
                  <a:srgbClr val="000000"/>
                </a:solidFill>
                <a:latin typeface="Arial"/>
                <a:ea typeface="Arial"/>
                <a:cs typeface="Arial"/>
                <a:sym typeface="Arial"/>
              </a:rPr>
              <a:t>D. J. Sorin, M. D. Hill, and D. A. Wood, A Primer on Memory Consistency and Cache Coherence, San Rafael, CA, USA: Morgan &amp; Claypool Publishers, 2011.</a:t>
            </a:r>
          </a:p>
          <a:p>
            <a:pPr algn="l" marL="633416" indent="-316708" lvl="1">
              <a:lnSpc>
                <a:spcPts val="5460"/>
              </a:lnSpc>
              <a:buFont typeface="Arial"/>
              <a:buChar char="•"/>
            </a:pPr>
            <a:r>
              <a:rPr lang="en-US" sz="3500">
                <a:solidFill>
                  <a:srgbClr val="000000"/>
                </a:solidFill>
                <a:latin typeface="Arial"/>
                <a:ea typeface="Arial"/>
                <a:cs typeface="Arial"/>
                <a:sym typeface="Arial"/>
              </a:rPr>
              <a:t>N. E. Jerger, T. Krishna, and L.-S. Peh, On-Chip Networks, 2nd ed. San Rafael, CA, USA: Morgan &amp; Claypool Publishers, 2017.</a:t>
            </a:r>
          </a:p>
          <a:p>
            <a:pPr algn="l" marL="633416" indent="-316708" lvl="1">
              <a:lnSpc>
                <a:spcPts val="5460"/>
              </a:lnSpc>
              <a:buFont typeface="Arial"/>
              <a:buChar char="•"/>
            </a:pPr>
            <a:r>
              <a:rPr lang="en-US" sz="3500">
                <a:solidFill>
                  <a:srgbClr val="000000"/>
                </a:solidFill>
                <a:latin typeface="Arial"/>
                <a:ea typeface="Arial"/>
                <a:cs typeface="Arial"/>
                <a:sym typeface="Arial"/>
              </a:rPr>
              <a:t>Vũ Đức Lung, Giáo trình Kiến trúc máy tính. TP. Hồ Chí Minh, Việt Nam: Nhà xuất bản Đại học Quốc gia Thành phố Hồ Chí Minh, 2011.</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name="Group 3" id="3"/>
          <p:cNvGrpSpPr/>
          <p:nvPr/>
        </p:nvGrpSpPr>
        <p:grpSpPr>
          <a:xfrm rot="0">
            <a:off x="0" y="2124"/>
            <a:ext cx="18291715" cy="10295487"/>
            <a:chOff x="0" y="0"/>
            <a:chExt cx="24388953" cy="13727316"/>
          </a:xfrm>
        </p:grpSpPr>
        <p:sp>
          <p:nvSpPr>
            <p:cNvPr name="Freeform 4" id="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5" id="5"/>
          <p:cNvGrpSpPr/>
          <p:nvPr/>
        </p:nvGrpSpPr>
        <p:grpSpPr>
          <a:xfrm rot="0">
            <a:off x="-36214" y="0"/>
            <a:ext cx="6084589" cy="10287000"/>
            <a:chOff x="0" y="0"/>
            <a:chExt cx="8112785" cy="13716000"/>
          </a:xfrm>
        </p:grpSpPr>
        <p:sp>
          <p:nvSpPr>
            <p:cNvPr name="Freeform 6" id="6"/>
            <p:cNvSpPr/>
            <p:nvPr/>
          </p:nvSpPr>
          <p:spPr>
            <a:xfrm flipH="false" flipV="false" rot="0">
              <a:off x="0" y="0"/>
              <a:ext cx="8112760" cy="13716000"/>
            </a:xfrm>
            <a:custGeom>
              <a:avLst/>
              <a:gdLst/>
              <a:ahLst/>
              <a:cxnLst/>
              <a:rect r="r" b="b" t="t" l="l"/>
              <a:pathLst>
                <a:path h="13716000" w="8112760">
                  <a:moveTo>
                    <a:pt x="0" y="0"/>
                  </a:moveTo>
                  <a:lnTo>
                    <a:pt x="8112760" y="0"/>
                  </a:lnTo>
                  <a:lnTo>
                    <a:pt x="8112760" y="13716000"/>
                  </a:lnTo>
                  <a:lnTo>
                    <a:pt x="0" y="13716000"/>
                  </a:lnTo>
                  <a:close/>
                </a:path>
              </a:pathLst>
            </a:custGeom>
            <a:gradFill rotWithShape="true">
              <a:gsLst>
                <a:gs pos="0">
                  <a:srgbClr val="38EF7D">
                    <a:alpha val="100000"/>
                  </a:srgbClr>
                </a:gs>
                <a:gs pos="100000">
                  <a:srgbClr val="11998E">
                    <a:alpha val="100000"/>
                  </a:srgbClr>
                </a:gs>
              </a:gsLst>
              <a:lin ang="5400000"/>
            </a:gradFill>
          </p:spPr>
        </p:sp>
      </p:grpSp>
      <p:grpSp>
        <p:nvGrpSpPr>
          <p:cNvPr name="Group 7" id="7"/>
          <p:cNvGrpSpPr/>
          <p:nvPr/>
        </p:nvGrpSpPr>
        <p:grpSpPr>
          <a:xfrm rot="0">
            <a:off x="-46873" y="0"/>
            <a:ext cx="2707176" cy="10287000"/>
            <a:chOff x="0" y="0"/>
            <a:chExt cx="3609569" cy="13716000"/>
          </a:xfrm>
        </p:grpSpPr>
        <p:sp>
          <p:nvSpPr>
            <p:cNvPr name="Freeform 8" id="8"/>
            <p:cNvSpPr/>
            <p:nvPr/>
          </p:nvSpPr>
          <p:spPr>
            <a:xfrm flipH="false" flipV="true" rot="0">
              <a:off x="0" y="0"/>
              <a:ext cx="3609594" cy="13716000"/>
            </a:xfrm>
            <a:custGeom>
              <a:avLst/>
              <a:gdLst/>
              <a:ahLst/>
              <a:cxnLst/>
              <a:rect r="r" b="b" t="t" l="l"/>
              <a:pathLst>
                <a:path h="13716000" w="3609594">
                  <a:moveTo>
                    <a:pt x="0" y="0"/>
                  </a:moveTo>
                  <a:lnTo>
                    <a:pt x="3609594" y="0"/>
                  </a:lnTo>
                  <a:lnTo>
                    <a:pt x="3609594" y="13716000"/>
                  </a:lnTo>
                  <a:lnTo>
                    <a:pt x="0" y="13716000"/>
                  </a:lnTo>
                  <a:close/>
                </a:path>
              </a:pathLst>
            </a:custGeom>
            <a:blipFill>
              <a:blip r:embed="rId2"/>
              <a:stretch>
                <a:fillRect l="-2907" t="0" r="-2906" b="0"/>
              </a:stretch>
            </a:blipFill>
          </p:spPr>
        </p:sp>
      </p:grpSp>
      <p:sp>
        <p:nvSpPr>
          <p:cNvPr name="TextBox 9" id="9"/>
          <p:cNvSpPr txBox="true"/>
          <p:nvPr/>
        </p:nvSpPr>
        <p:spPr>
          <a:xfrm rot="-5400000">
            <a:off x="-2614688" y="6739452"/>
            <a:ext cx="6076721" cy="425920"/>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10" id="10"/>
          <p:cNvGrpSpPr/>
          <p:nvPr/>
        </p:nvGrpSpPr>
        <p:grpSpPr>
          <a:xfrm rot="0">
            <a:off x="6719973" y="293294"/>
            <a:ext cx="4848044" cy="957948"/>
            <a:chOff x="0" y="0"/>
            <a:chExt cx="6464059" cy="1277264"/>
          </a:xfrm>
        </p:grpSpPr>
        <p:sp>
          <p:nvSpPr>
            <p:cNvPr name="Freeform 11" id="11"/>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2" id="12"/>
          <p:cNvGrpSpPr/>
          <p:nvPr/>
        </p:nvGrpSpPr>
        <p:grpSpPr>
          <a:xfrm rot="0">
            <a:off x="6807460" y="371332"/>
            <a:ext cx="4673079" cy="801872"/>
            <a:chOff x="0" y="0"/>
            <a:chExt cx="6230772" cy="1069162"/>
          </a:xfrm>
        </p:grpSpPr>
        <p:sp>
          <p:nvSpPr>
            <p:cNvPr name="Freeform 13" id="13"/>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4" id="14"/>
          <p:cNvGrpSpPr/>
          <p:nvPr/>
        </p:nvGrpSpPr>
        <p:grpSpPr>
          <a:xfrm rot="0">
            <a:off x="9436446" y="197910"/>
            <a:ext cx="1163307" cy="1152592"/>
            <a:chOff x="0" y="0"/>
            <a:chExt cx="1551076" cy="1536789"/>
          </a:xfrm>
        </p:grpSpPr>
        <p:sp>
          <p:nvSpPr>
            <p:cNvPr name="Freeform 15" id="15"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6" id="16"/>
          <p:cNvGrpSpPr/>
          <p:nvPr/>
        </p:nvGrpSpPr>
        <p:grpSpPr>
          <a:xfrm rot="0">
            <a:off x="7688247" y="233439"/>
            <a:ext cx="1307516" cy="1081516"/>
            <a:chOff x="0" y="0"/>
            <a:chExt cx="1743354" cy="1442022"/>
          </a:xfrm>
        </p:grpSpPr>
        <p:sp>
          <p:nvSpPr>
            <p:cNvPr name="Freeform 17" id="17"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8" id="18"/>
          <p:cNvSpPr/>
          <p:nvPr/>
        </p:nvSpPr>
        <p:spPr>
          <a:xfrm flipH="false" flipV="false" rot="0">
            <a:off x="17262338" y="364607"/>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1705232" y="2175643"/>
            <a:ext cx="15315943" cy="6434480"/>
            <a:chOff x="0" y="0"/>
            <a:chExt cx="20421257" cy="8579307"/>
          </a:xfrm>
        </p:grpSpPr>
        <p:sp>
          <p:nvSpPr>
            <p:cNvPr name="Freeform 20" id="20"/>
            <p:cNvSpPr/>
            <p:nvPr/>
          </p:nvSpPr>
          <p:spPr>
            <a:xfrm flipH="false" flipV="false" rot="0">
              <a:off x="0" y="0"/>
              <a:ext cx="20421346" cy="8579358"/>
            </a:xfrm>
            <a:custGeom>
              <a:avLst/>
              <a:gdLst/>
              <a:ahLst/>
              <a:cxnLst/>
              <a:rect r="r" b="b" t="t" l="l"/>
              <a:pathLst>
                <a:path h="8579358" w="20421346">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blipFill>
              <a:blip r:embed="rId7"/>
              <a:stretch>
                <a:fillRect l="-189" t="0" r="-189" b="0"/>
              </a:stretch>
            </a:blipFill>
          </p:spPr>
        </p:sp>
      </p:grpSp>
      <p:grpSp>
        <p:nvGrpSpPr>
          <p:cNvPr name="Group 21" id="21"/>
          <p:cNvGrpSpPr/>
          <p:nvPr/>
        </p:nvGrpSpPr>
        <p:grpSpPr>
          <a:xfrm rot="0">
            <a:off x="1705232" y="2175643"/>
            <a:ext cx="15315943" cy="6434480"/>
            <a:chOff x="0" y="0"/>
            <a:chExt cx="20421257" cy="8579307"/>
          </a:xfrm>
        </p:grpSpPr>
        <p:sp>
          <p:nvSpPr>
            <p:cNvPr name="Freeform 22" id="22"/>
            <p:cNvSpPr/>
            <p:nvPr/>
          </p:nvSpPr>
          <p:spPr>
            <a:xfrm flipH="false" flipV="false" rot="0">
              <a:off x="0" y="0"/>
              <a:ext cx="20421346" cy="8579358"/>
            </a:xfrm>
            <a:custGeom>
              <a:avLst/>
              <a:gdLst/>
              <a:ahLst/>
              <a:cxnLst/>
              <a:rect r="r" b="b" t="t" l="l"/>
              <a:pathLst>
                <a:path h="8579358" w="20421346">
                  <a:moveTo>
                    <a:pt x="0" y="231775"/>
                  </a:moveTo>
                  <a:cubicBezTo>
                    <a:pt x="0" y="103759"/>
                    <a:pt x="103759" y="0"/>
                    <a:pt x="231775" y="0"/>
                  </a:cubicBezTo>
                  <a:lnTo>
                    <a:pt x="20189571" y="0"/>
                  </a:lnTo>
                  <a:cubicBezTo>
                    <a:pt x="20317586" y="0"/>
                    <a:pt x="20421346" y="103759"/>
                    <a:pt x="20421346" y="231775"/>
                  </a:cubicBezTo>
                  <a:lnTo>
                    <a:pt x="20421346" y="8347583"/>
                  </a:lnTo>
                  <a:cubicBezTo>
                    <a:pt x="20421346" y="8475599"/>
                    <a:pt x="20317586" y="8579358"/>
                    <a:pt x="20189571" y="8579358"/>
                  </a:cubicBezTo>
                  <a:lnTo>
                    <a:pt x="231775" y="8579358"/>
                  </a:lnTo>
                  <a:cubicBezTo>
                    <a:pt x="103759" y="8579358"/>
                    <a:pt x="0" y="8475599"/>
                    <a:pt x="0" y="8347583"/>
                  </a:cubicBezTo>
                  <a:close/>
                </a:path>
              </a:pathLst>
            </a:custGeom>
            <a:gradFill rotWithShape="true">
              <a:gsLst>
                <a:gs pos="0">
                  <a:srgbClr val="38EF7D">
                    <a:alpha val="40000"/>
                  </a:srgbClr>
                </a:gs>
                <a:gs pos="100000">
                  <a:srgbClr val="11998E">
                    <a:alpha val="40000"/>
                  </a:srgbClr>
                </a:gs>
              </a:gsLst>
              <a:lin ang="4032715"/>
            </a:gradFill>
          </p:spPr>
        </p:sp>
      </p:grpSp>
      <p:grpSp>
        <p:nvGrpSpPr>
          <p:cNvPr name="Group 23" id="23"/>
          <p:cNvGrpSpPr/>
          <p:nvPr/>
        </p:nvGrpSpPr>
        <p:grpSpPr>
          <a:xfrm rot="0">
            <a:off x="0" y="2124"/>
            <a:ext cx="18291715" cy="10295487"/>
            <a:chOff x="0" y="0"/>
            <a:chExt cx="24388953" cy="13727316"/>
          </a:xfrm>
        </p:grpSpPr>
        <p:sp>
          <p:nvSpPr>
            <p:cNvPr name="Freeform 24" id="2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5" id="25"/>
          <p:cNvGrpSpPr/>
          <p:nvPr/>
        </p:nvGrpSpPr>
        <p:grpSpPr>
          <a:xfrm rot="0">
            <a:off x="10848975" y="9534525"/>
            <a:ext cx="6172200" cy="547688"/>
            <a:chOff x="0" y="0"/>
            <a:chExt cx="8229600" cy="730250"/>
          </a:xfrm>
        </p:grpSpPr>
        <p:sp>
          <p:nvSpPr>
            <p:cNvPr name="Freeform 26" id="26"/>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8">
                <a:alphaModFix amt="0"/>
              </a:blip>
              <a:stretch>
                <a:fillRect l="0" t="-169587" r="0" b="-169587"/>
              </a:stretch>
            </a:blipFill>
          </p:spPr>
        </p:sp>
        <p:sp>
          <p:nvSpPr>
            <p:cNvPr name="TextBox 27" id="27"/>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8" id="28"/>
          <p:cNvGrpSpPr/>
          <p:nvPr/>
        </p:nvGrpSpPr>
        <p:grpSpPr>
          <a:xfrm rot="0">
            <a:off x="15614542" y="498424"/>
            <a:ext cx="4114800" cy="547688"/>
            <a:chOff x="0" y="0"/>
            <a:chExt cx="5486400" cy="730250"/>
          </a:xfrm>
        </p:grpSpPr>
        <p:sp>
          <p:nvSpPr>
            <p:cNvPr name="Freeform 29" id="29"/>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8">
                <a:alphaModFix amt="0"/>
              </a:blip>
              <a:stretch>
                <a:fillRect l="0" t="-96391" r="0" b="-96391"/>
              </a:stretch>
            </a:blipFill>
          </p:spPr>
        </p:sp>
        <p:sp>
          <p:nvSpPr>
            <p:cNvPr name="TextBox 30" id="30"/>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14</a:t>
              </a:r>
            </a:p>
          </p:txBody>
        </p:sp>
      </p:grpSp>
      <p:grpSp>
        <p:nvGrpSpPr>
          <p:cNvPr name="Group 31" id="31"/>
          <p:cNvGrpSpPr/>
          <p:nvPr/>
        </p:nvGrpSpPr>
        <p:grpSpPr>
          <a:xfrm rot="0">
            <a:off x="2480043" y="3638074"/>
            <a:ext cx="13766321" cy="2258930"/>
            <a:chOff x="0" y="0"/>
            <a:chExt cx="18355094" cy="3011907"/>
          </a:xfrm>
        </p:grpSpPr>
        <p:sp>
          <p:nvSpPr>
            <p:cNvPr name="Freeform 32" id="32"/>
            <p:cNvSpPr/>
            <p:nvPr/>
          </p:nvSpPr>
          <p:spPr>
            <a:xfrm flipH="false" flipV="false" rot="0">
              <a:off x="0" y="0"/>
              <a:ext cx="18355097" cy="3011906"/>
            </a:xfrm>
            <a:custGeom>
              <a:avLst/>
              <a:gdLst/>
              <a:ahLst/>
              <a:cxnLst/>
              <a:rect r="r" b="b" t="t" l="l"/>
              <a:pathLst>
                <a:path h="3011906" w="18355097">
                  <a:moveTo>
                    <a:pt x="0" y="0"/>
                  </a:moveTo>
                  <a:lnTo>
                    <a:pt x="18355097" y="0"/>
                  </a:lnTo>
                  <a:lnTo>
                    <a:pt x="18355097" y="3011906"/>
                  </a:lnTo>
                  <a:lnTo>
                    <a:pt x="0" y="3011906"/>
                  </a:lnTo>
                  <a:close/>
                </a:path>
              </a:pathLst>
            </a:custGeom>
            <a:blipFill>
              <a:blip r:embed="rId8">
                <a:alphaModFix amt="0"/>
              </a:blip>
              <a:stretch>
                <a:fillRect l="0" t="-68745" r="0" b="-68745"/>
              </a:stretch>
            </a:blipFill>
          </p:spPr>
        </p:sp>
        <p:sp>
          <p:nvSpPr>
            <p:cNvPr name="TextBox 33" id="33"/>
            <p:cNvSpPr txBox="true"/>
            <p:nvPr/>
          </p:nvSpPr>
          <p:spPr>
            <a:xfrm>
              <a:off x="0" y="57150"/>
              <a:ext cx="18355094" cy="2954757"/>
            </a:xfrm>
            <a:prstGeom prst="rect">
              <a:avLst/>
            </a:prstGeom>
          </p:spPr>
          <p:txBody>
            <a:bodyPr anchor="ctr" rtlCol="false" tIns="0" lIns="0" bIns="0" rIns="0"/>
            <a:lstStyle/>
            <a:p>
              <a:pPr algn="l">
                <a:lnSpc>
                  <a:spcPts val="8748"/>
                </a:lnSpc>
              </a:pPr>
              <a:r>
                <a:rPr lang="en-US" sz="8100" b="true">
                  <a:solidFill>
                    <a:srgbClr val="FFFFFF"/>
                  </a:solidFill>
                  <a:latin typeface="Times New Roman Bold"/>
                  <a:ea typeface="Times New Roman Bold"/>
                  <a:cs typeface="Times New Roman Bold"/>
                  <a:sym typeface="Times New Roman Bold"/>
                </a:rPr>
                <a:t>HỎI VÀ ĐÁP</a:t>
              </a:r>
            </a:p>
          </p:txBody>
        </p:sp>
      </p:grpSp>
      <p:sp>
        <p:nvSpPr>
          <p:cNvPr name="TextBox 34" id="34"/>
          <p:cNvSpPr txBox="true"/>
          <p:nvPr/>
        </p:nvSpPr>
        <p:spPr>
          <a:xfrm rot="0">
            <a:off x="2571483" y="1020985"/>
            <a:ext cx="2896076" cy="2454116"/>
          </a:xfrm>
          <a:prstGeom prst="rect">
            <a:avLst/>
          </a:prstGeom>
        </p:spPr>
        <p:txBody>
          <a:bodyPr anchor="t" rtlCol="false" tIns="0" lIns="0" bIns="0" rIns="0">
            <a:spAutoFit/>
          </a:bodyPr>
          <a:lstStyle/>
          <a:p>
            <a:pPr algn="l">
              <a:lnSpc>
                <a:spcPts val="18630"/>
              </a:lnSpc>
            </a:pPr>
            <a:r>
              <a:rPr lang="en-US" sz="17250" b="true">
                <a:solidFill>
                  <a:srgbClr val="FFFFFF">
                    <a:alpha val="65098"/>
                  </a:srgbClr>
                </a:solidFill>
                <a:latin typeface="Arial Bold"/>
                <a:ea typeface="Arial Bold"/>
                <a:cs typeface="Arial Bold"/>
                <a:sym typeface="Arial Bold"/>
              </a:rPr>
              <a:t>05</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440" y="-2287991"/>
            <a:ext cx="18105120" cy="527771"/>
          </a:xfrm>
          <a:prstGeom prst="rect">
            <a:avLst/>
          </a:prstGeom>
        </p:spPr>
        <p:txBody>
          <a:bodyPr anchor="t" rtlCol="false" tIns="0" lIns="0" bIns="0" rIns="0">
            <a:spAutoFit/>
          </a:bodyPr>
          <a:lstStyle/>
          <a:p>
            <a:pPr algn="ctr">
              <a:lnSpc>
                <a:spcPts val="3600"/>
              </a:lnSpc>
            </a:pPr>
            <a:r>
              <a:rPr lang="en-US" sz="3000">
                <a:solidFill>
                  <a:srgbClr val="C3C3C3"/>
                </a:solidFill>
                <a:latin typeface="Arial"/>
                <a:ea typeface="Arial"/>
                <a:cs typeface="Arial"/>
                <a:sym typeface="Arial"/>
              </a:rPr>
              <a:t>www.9slide.vn</a:t>
            </a:r>
          </a:p>
        </p:txBody>
      </p:sp>
      <p:grpSp>
        <p:nvGrpSpPr>
          <p:cNvPr name="Group 3" id="3"/>
          <p:cNvGrpSpPr/>
          <p:nvPr/>
        </p:nvGrpSpPr>
        <p:grpSpPr>
          <a:xfrm rot="0">
            <a:off x="0" y="2124"/>
            <a:ext cx="18291715" cy="10295487"/>
            <a:chOff x="0" y="0"/>
            <a:chExt cx="24388953" cy="13727316"/>
          </a:xfrm>
        </p:grpSpPr>
        <p:sp>
          <p:nvSpPr>
            <p:cNvPr name="Freeform 4" id="4"/>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5" id="5"/>
          <p:cNvGrpSpPr/>
          <p:nvPr/>
        </p:nvGrpSpPr>
        <p:grpSpPr>
          <a:xfrm rot="5400000">
            <a:off x="8668474" y="-8670065"/>
            <a:ext cx="947328" cy="18291715"/>
            <a:chOff x="0" y="0"/>
            <a:chExt cx="1263104" cy="24388953"/>
          </a:xfrm>
        </p:grpSpPr>
        <p:sp>
          <p:nvSpPr>
            <p:cNvPr name="Freeform 6" id="6"/>
            <p:cNvSpPr/>
            <p:nvPr/>
          </p:nvSpPr>
          <p:spPr>
            <a:xfrm flipH="false" flipV="fals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gradFill rotWithShape="true">
              <a:gsLst>
                <a:gs pos="0">
                  <a:srgbClr val="10CD57">
                    <a:alpha val="100000"/>
                  </a:srgbClr>
                </a:gs>
                <a:gs pos="100000">
                  <a:srgbClr val="027159">
                    <a:alpha val="100000"/>
                  </a:srgbClr>
                </a:gs>
              </a:gsLst>
              <a:lin ang="0"/>
            </a:gradFill>
          </p:spPr>
        </p:sp>
      </p:grpSp>
      <p:grpSp>
        <p:nvGrpSpPr>
          <p:cNvPr name="Group 7" id="7"/>
          <p:cNvGrpSpPr/>
          <p:nvPr/>
        </p:nvGrpSpPr>
        <p:grpSpPr>
          <a:xfrm rot="5400000">
            <a:off x="8670331" y="-8672198"/>
            <a:ext cx="947328" cy="18291715"/>
            <a:chOff x="0" y="0"/>
            <a:chExt cx="1263104" cy="24388953"/>
          </a:xfrm>
        </p:grpSpPr>
        <p:sp>
          <p:nvSpPr>
            <p:cNvPr name="Freeform 8" id="8"/>
            <p:cNvSpPr/>
            <p:nvPr/>
          </p:nvSpPr>
          <p:spPr>
            <a:xfrm flipH="false" flipV="true" rot="0">
              <a:off x="0" y="0"/>
              <a:ext cx="1263142" cy="24388953"/>
            </a:xfrm>
            <a:custGeom>
              <a:avLst/>
              <a:gdLst/>
              <a:ahLst/>
              <a:cxnLst/>
              <a:rect r="r" b="b" t="t" l="l"/>
              <a:pathLst>
                <a:path h="24388953" w="1263142">
                  <a:moveTo>
                    <a:pt x="0" y="0"/>
                  </a:moveTo>
                  <a:lnTo>
                    <a:pt x="1263142" y="0"/>
                  </a:lnTo>
                  <a:lnTo>
                    <a:pt x="1263142" y="24388953"/>
                  </a:lnTo>
                  <a:lnTo>
                    <a:pt x="0" y="24388953"/>
                  </a:lnTo>
                  <a:close/>
                </a:path>
              </a:pathLst>
            </a:custGeom>
            <a:blipFill>
              <a:blip r:embed="rId2"/>
              <a:stretch>
                <a:fillRect l="-35093" t="0" r="-35090" b="0"/>
              </a:stretch>
            </a:blipFill>
          </p:spPr>
        </p:sp>
      </p:grpSp>
      <p:sp>
        <p:nvSpPr>
          <p:cNvPr name="TextBox 9" id="9"/>
          <p:cNvSpPr txBox="true"/>
          <p:nvPr/>
        </p:nvSpPr>
        <p:spPr>
          <a:xfrm rot="0">
            <a:off x="451866" y="248326"/>
            <a:ext cx="10947559" cy="424158"/>
          </a:xfrm>
          <a:prstGeom prst="rect">
            <a:avLst/>
          </a:prstGeom>
        </p:spPr>
        <p:txBody>
          <a:bodyPr anchor="t" rtlCol="false" tIns="0" lIns="0" bIns="0" rIns="0">
            <a:spAutoFit/>
          </a:bodyPr>
          <a:lstStyle/>
          <a:p>
            <a:pPr algn="l">
              <a:lnSpc>
                <a:spcPts val="2879"/>
              </a:lnSpc>
            </a:pPr>
            <a:r>
              <a:rPr lang="en-US" sz="2400" b="true">
                <a:solidFill>
                  <a:srgbClr val="FFFFFF"/>
                </a:solidFill>
                <a:latin typeface="Arial Bold"/>
                <a:ea typeface="Arial Bold"/>
                <a:cs typeface="Arial Bold"/>
                <a:sym typeface="Arial Bold"/>
              </a:rPr>
              <a:t>FACULTY OF COMPUTER ENGINEERING</a:t>
            </a:r>
          </a:p>
        </p:txBody>
      </p:sp>
      <p:grpSp>
        <p:nvGrpSpPr>
          <p:cNvPr name="Group 10" id="10"/>
          <p:cNvGrpSpPr/>
          <p:nvPr/>
        </p:nvGrpSpPr>
        <p:grpSpPr>
          <a:xfrm rot="0">
            <a:off x="6719973" y="457933"/>
            <a:ext cx="4848044" cy="957948"/>
            <a:chOff x="0" y="0"/>
            <a:chExt cx="6464059" cy="1277264"/>
          </a:xfrm>
        </p:grpSpPr>
        <p:sp>
          <p:nvSpPr>
            <p:cNvPr name="Freeform 11" id="11"/>
            <p:cNvSpPr/>
            <p:nvPr/>
          </p:nvSpPr>
          <p:spPr>
            <a:xfrm flipH="false" flipV="false" rot="0">
              <a:off x="0" y="0"/>
              <a:ext cx="6464173" cy="1277366"/>
            </a:xfrm>
            <a:custGeom>
              <a:avLst/>
              <a:gdLst/>
              <a:ahLst/>
              <a:cxnLst/>
              <a:rect r="r" b="b" t="t" l="l"/>
              <a:pathLst>
                <a:path h="1277366" w="6464173">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rotWithShape="true">
              <a:gsLst>
                <a:gs pos="0">
                  <a:srgbClr val="38EF7D">
                    <a:alpha val="100000"/>
                  </a:srgbClr>
                </a:gs>
                <a:gs pos="100000">
                  <a:srgbClr val="752AFF">
                    <a:alpha val="100000"/>
                  </a:srgbClr>
                </a:gs>
              </a:gsLst>
              <a:lin ang="4729360"/>
            </a:gradFill>
          </p:spPr>
        </p:sp>
      </p:grpSp>
      <p:grpSp>
        <p:nvGrpSpPr>
          <p:cNvPr name="Group 12" id="12"/>
          <p:cNvGrpSpPr/>
          <p:nvPr/>
        </p:nvGrpSpPr>
        <p:grpSpPr>
          <a:xfrm rot="0">
            <a:off x="6807460" y="535962"/>
            <a:ext cx="4673079" cy="801872"/>
            <a:chOff x="0" y="0"/>
            <a:chExt cx="6230772" cy="1069162"/>
          </a:xfrm>
        </p:grpSpPr>
        <p:sp>
          <p:nvSpPr>
            <p:cNvPr name="Freeform 13" id="13"/>
            <p:cNvSpPr/>
            <p:nvPr/>
          </p:nvSpPr>
          <p:spPr>
            <a:xfrm flipH="false" flipV="false" rot="0">
              <a:off x="0" y="0"/>
              <a:ext cx="6230747" cy="1069086"/>
            </a:xfrm>
            <a:custGeom>
              <a:avLst/>
              <a:gdLst/>
              <a:ahLst/>
              <a:cxnLst/>
              <a:rect r="r" b="b" t="t" l="l"/>
              <a:pathLst>
                <a:path h="1069086" w="6230747">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a:srgbClr val="FFFFFF"/>
            </a:solidFill>
          </p:spPr>
        </p:sp>
      </p:grpSp>
      <p:grpSp>
        <p:nvGrpSpPr>
          <p:cNvPr name="Group 14" id="14"/>
          <p:cNvGrpSpPr/>
          <p:nvPr/>
        </p:nvGrpSpPr>
        <p:grpSpPr>
          <a:xfrm rot="0">
            <a:off x="9436446" y="362541"/>
            <a:ext cx="1163307" cy="1152592"/>
            <a:chOff x="0" y="0"/>
            <a:chExt cx="1551076" cy="1536789"/>
          </a:xfrm>
        </p:grpSpPr>
        <p:sp>
          <p:nvSpPr>
            <p:cNvPr name="Freeform 15" id="15" descr="Icon  Description automatically generated with medium confidence"/>
            <p:cNvSpPr/>
            <p:nvPr/>
          </p:nvSpPr>
          <p:spPr>
            <a:xfrm flipH="false" flipV="false" rot="0">
              <a:off x="0" y="0"/>
              <a:ext cx="1551051" cy="1536827"/>
            </a:xfrm>
            <a:custGeom>
              <a:avLst/>
              <a:gdLst/>
              <a:ahLst/>
              <a:cxnLst/>
              <a:rect r="r" b="b" t="t" l="l"/>
              <a:pathLst>
                <a:path h="1536827" w="1551051">
                  <a:moveTo>
                    <a:pt x="0" y="0"/>
                  </a:moveTo>
                  <a:lnTo>
                    <a:pt x="1551051" y="0"/>
                  </a:lnTo>
                  <a:lnTo>
                    <a:pt x="1551051" y="1536827"/>
                  </a:lnTo>
                  <a:lnTo>
                    <a:pt x="0" y="1536827"/>
                  </a:lnTo>
                  <a:lnTo>
                    <a:pt x="0" y="0"/>
                  </a:lnTo>
                  <a:close/>
                </a:path>
              </a:pathLst>
            </a:custGeom>
            <a:blipFill>
              <a:blip r:embed="rId3"/>
              <a:stretch>
                <a:fillRect l="-75" t="0" r="-76" b="2"/>
              </a:stretch>
            </a:blipFill>
          </p:spPr>
        </p:sp>
      </p:grpSp>
      <p:grpSp>
        <p:nvGrpSpPr>
          <p:cNvPr name="Group 16" id="16"/>
          <p:cNvGrpSpPr/>
          <p:nvPr/>
        </p:nvGrpSpPr>
        <p:grpSpPr>
          <a:xfrm rot="0">
            <a:off x="7688247" y="398078"/>
            <a:ext cx="1307516" cy="1081516"/>
            <a:chOff x="0" y="0"/>
            <a:chExt cx="1743354" cy="1442022"/>
          </a:xfrm>
        </p:grpSpPr>
        <p:sp>
          <p:nvSpPr>
            <p:cNvPr name="Freeform 17" id="17" descr="A picture containing clipart, vector graphics  Description automatically generated"/>
            <p:cNvSpPr/>
            <p:nvPr/>
          </p:nvSpPr>
          <p:spPr>
            <a:xfrm flipH="false" flipV="false" rot="0">
              <a:off x="0" y="0"/>
              <a:ext cx="1743329" cy="1442085"/>
            </a:xfrm>
            <a:custGeom>
              <a:avLst/>
              <a:gdLst/>
              <a:ahLst/>
              <a:cxnLst/>
              <a:rect r="r" b="b" t="t" l="l"/>
              <a:pathLst>
                <a:path h="1442085" w="1743329">
                  <a:moveTo>
                    <a:pt x="0" y="0"/>
                  </a:moveTo>
                  <a:lnTo>
                    <a:pt x="1743329" y="0"/>
                  </a:lnTo>
                  <a:lnTo>
                    <a:pt x="1743329" y="1442085"/>
                  </a:lnTo>
                  <a:lnTo>
                    <a:pt x="0" y="1442085"/>
                  </a:lnTo>
                  <a:lnTo>
                    <a:pt x="0" y="0"/>
                  </a:lnTo>
                  <a:close/>
                </a:path>
              </a:pathLst>
            </a:custGeom>
            <a:blipFill>
              <a:blip r:embed="rId4"/>
              <a:stretch>
                <a:fillRect l="0" t="-74" r="-1" b="-71"/>
              </a:stretch>
            </a:blipFill>
          </p:spPr>
        </p:sp>
      </p:grpSp>
      <p:sp>
        <p:nvSpPr>
          <p:cNvPr name="Freeform 18" id="18"/>
          <p:cNvSpPr/>
          <p:nvPr/>
        </p:nvSpPr>
        <p:spPr>
          <a:xfrm flipH="false" flipV="false" rot="0">
            <a:off x="17262338" y="9405385"/>
            <a:ext cx="819198" cy="819198"/>
          </a:xfrm>
          <a:custGeom>
            <a:avLst/>
            <a:gdLst/>
            <a:ahLst/>
            <a:cxnLst/>
            <a:rect r="r" b="b" t="t" l="l"/>
            <a:pathLst>
              <a:path h="819198" w="819198">
                <a:moveTo>
                  <a:pt x="0" y="0"/>
                </a:moveTo>
                <a:lnTo>
                  <a:pt x="819198" y="0"/>
                </a:lnTo>
                <a:lnTo>
                  <a:pt x="819198" y="819198"/>
                </a:lnTo>
                <a:lnTo>
                  <a:pt x="0" y="8191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9" id="19"/>
          <p:cNvGrpSpPr/>
          <p:nvPr/>
        </p:nvGrpSpPr>
        <p:grpSpPr>
          <a:xfrm rot="0">
            <a:off x="0" y="2124"/>
            <a:ext cx="18291715" cy="10295487"/>
            <a:chOff x="0" y="0"/>
            <a:chExt cx="24388953" cy="13727316"/>
          </a:xfrm>
        </p:grpSpPr>
        <p:sp>
          <p:nvSpPr>
            <p:cNvPr name="Freeform 20" id="20"/>
            <p:cNvSpPr/>
            <p:nvPr/>
          </p:nvSpPr>
          <p:spPr>
            <a:xfrm flipH="false" flipV="false" rot="0">
              <a:off x="0" y="0"/>
              <a:ext cx="24388953" cy="13727303"/>
            </a:xfrm>
            <a:custGeom>
              <a:avLst/>
              <a:gdLst/>
              <a:ahLst/>
              <a:cxnLst/>
              <a:rect r="r" b="b" t="t" l="l"/>
              <a:pathLst>
                <a:path h="13727303" w="24388953">
                  <a:moveTo>
                    <a:pt x="0" y="13196697"/>
                  </a:moveTo>
                  <a:cubicBezTo>
                    <a:pt x="0" y="13486637"/>
                    <a:pt x="234950" y="13721587"/>
                    <a:pt x="524891" y="13721587"/>
                  </a:cubicBezTo>
                  <a:lnTo>
                    <a:pt x="23864063" y="13721587"/>
                  </a:lnTo>
                  <a:cubicBezTo>
                    <a:pt x="24154003" y="13721587"/>
                    <a:pt x="24388953" y="13486637"/>
                    <a:pt x="24388953" y="13196697"/>
                  </a:cubicBezTo>
                  <a:lnTo>
                    <a:pt x="24388953" y="13727303"/>
                  </a:lnTo>
                  <a:lnTo>
                    <a:pt x="0" y="13727303"/>
                  </a:lnTo>
                  <a:close/>
                  <a:moveTo>
                    <a:pt x="0" y="0"/>
                  </a:moveTo>
                  <a:lnTo>
                    <a:pt x="24388953" y="0"/>
                  </a:lnTo>
                  <a:lnTo>
                    <a:pt x="24388953" y="530606"/>
                  </a:lnTo>
                  <a:cubicBezTo>
                    <a:pt x="24388953" y="240665"/>
                    <a:pt x="24154003" y="5715"/>
                    <a:pt x="23864063" y="5715"/>
                  </a:cubicBezTo>
                  <a:lnTo>
                    <a:pt x="524891" y="5715"/>
                  </a:lnTo>
                  <a:cubicBezTo>
                    <a:pt x="234950" y="5715"/>
                    <a:pt x="0" y="240665"/>
                    <a:pt x="0" y="530606"/>
                  </a:cubicBezTo>
                  <a:close/>
                </a:path>
              </a:pathLst>
            </a:custGeom>
            <a:solidFill>
              <a:srgbClr val="000000"/>
            </a:solidFill>
          </p:spPr>
        </p:sp>
      </p:grpSp>
      <p:grpSp>
        <p:nvGrpSpPr>
          <p:cNvPr name="Group 21" id="21"/>
          <p:cNvGrpSpPr/>
          <p:nvPr/>
        </p:nvGrpSpPr>
        <p:grpSpPr>
          <a:xfrm rot="0">
            <a:off x="908999" y="1555147"/>
            <a:ext cx="16470001" cy="1335996"/>
            <a:chOff x="0" y="0"/>
            <a:chExt cx="21960002" cy="1781327"/>
          </a:xfrm>
        </p:grpSpPr>
        <p:sp>
          <p:nvSpPr>
            <p:cNvPr name="Freeform 22" id="22"/>
            <p:cNvSpPr/>
            <p:nvPr/>
          </p:nvSpPr>
          <p:spPr>
            <a:xfrm flipH="false" flipV="false" rot="0">
              <a:off x="0" y="0"/>
              <a:ext cx="21960001" cy="1781326"/>
            </a:xfrm>
            <a:custGeom>
              <a:avLst/>
              <a:gdLst/>
              <a:ahLst/>
              <a:cxnLst/>
              <a:rect r="r" b="b" t="t" l="l"/>
              <a:pathLst>
                <a:path h="1781326" w="21960001">
                  <a:moveTo>
                    <a:pt x="0" y="0"/>
                  </a:moveTo>
                  <a:lnTo>
                    <a:pt x="21960001" y="0"/>
                  </a:lnTo>
                  <a:lnTo>
                    <a:pt x="21960001" y="1781326"/>
                  </a:lnTo>
                  <a:lnTo>
                    <a:pt x="0" y="1781326"/>
                  </a:lnTo>
                  <a:close/>
                </a:path>
              </a:pathLst>
            </a:custGeom>
            <a:blipFill>
              <a:blip r:embed="rId7">
                <a:alphaModFix amt="0"/>
              </a:blip>
              <a:stretch>
                <a:fillRect l="0" t="-190209" r="0" b="-190209"/>
              </a:stretch>
            </a:blipFill>
          </p:spPr>
        </p:sp>
        <p:sp>
          <p:nvSpPr>
            <p:cNvPr name="TextBox 23" id="23"/>
            <p:cNvSpPr txBox="true"/>
            <p:nvPr/>
          </p:nvSpPr>
          <p:spPr>
            <a:xfrm>
              <a:off x="0" y="38100"/>
              <a:ext cx="21960002" cy="1743227"/>
            </a:xfrm>
            <a:prstGeom prst="rect">
              <a:avLst/>
            </a:prstGeom>
          </p:spPr>
          <p:txBody>
            <a:bodyPr anchor="ctr" rtlCol="false" tIns="0" lIns="0" bIns="0" rIns="0"/>
            <a:lstStyle/>
            <a:p>
              <a:pPr algn="l">
                <a:lnSpc>
                  <a:spcPts val="7128"/>
                </a:lnSpc>
              </a:pPr>
              <a:r>
                <a:rPr lang="en-US" b="true" sz="6600">
                  <a:gradFill>
                    <a:gsLst>
                      <a:gs pos="0">
                        <a:srgbClr val="027159">
                          <a:alpha val="100000"/>
                        </a:srgbClr>
                      </a:gs>
                      <a:gs pos="100000">
                        <a:srgbClr val="10CD57">
                          <a:alpha val="100000"/>
                        </a:srgbClr>
                      </a:gs>
                    </a:gsLst>
                    <a:lin ang="16200000"/>
                  </a:gradFill>
                  <a:latin typeface="Times New Roman Bold"/>
                  <a:ea typeface="Times New Roman Bold"/>
                  <a:cs typeface="Times New Roman Bold"/>
                  <a:sym typeface="Times New Roman Bold"/>
                </a:rPr>
                <a:t>Phụ lục (nếu có)</a:t>
              </a:r>
            </a:p>
          </p:txBody>
        </p:sp>
      </p:grpSp>
      <p:sp>
        <p:nvSpPr>
          <p:cNvPr name="TextBox 24" id="24"/>
          <p:cNvSpPr txBox="true"/>
          <p:nvPr/>
        </p:nvSpPr>
        <p:spPr>
          <a:xfrm rot="0">
            <a:off x="1000439" y="2914212"/>
            <a:ext cx="16287121" cy="6305512"/>
          </a:xfrm>
          <a:prstGeom prst="rect">
            <a:avLst/>
          </a:prstGeom>
        </p:spPr>
        <p:txBody>
          <a:bodyPr anchor="t" rtlCol="false" tIns="0" lIns="0" bIns="0" rIns="0">
            <a:spAutoFit/>
          </a:bodyPr>
          <a:lstStyle/>
          <a:p>
            <a:pPr algn="l" marL="760095" indent="-380048" lvl="1">
              <a:lnSpc>
                <a:spcPts val="6552"/>
              </a:lnSpc>
              <a:buFont typeface="Arial"/>
              <a:buChar char="•"/>
            </a:pPr>
            <a:r>
              <a:rPr lang="en-US" sz="4200">
                <a:solidFill>
                  <a:srgbClr val="000000"/>
                </a:solidFill>
                <a:latin typeface="Arial"/>
                <a:ea typeface="Arial"/>
                <a:cs typeface="Arial"/>
                <a:sym typeface="Arial"/>
              </a:rPr>
              <a:t>Phần phụ lục này đặt những nội dung cần giải thích chi tiết cho các Slide trong phần báo cáo chính trong trường hợp giải thích các câu hỏi từ người nghe</a:t>
            </a:r>
          </a:p>
        </p:txBody>
      </p:sp>
      <p:grpSp>
        <p:nvGrpSpPr>
          <p:cNvPr name="Group 25" id="25"/>
          <p:cNvGrpSpPr/>
          <p:nvPr/>
        </p:nvGrpSpPr>
        <p:grpSpPr>
          <a:xfrm rot="0">
            <a:off x="6350346" y="9534525"/>
            <a:ext cx="6172200" cy="547688"/>
            <a:chOff x="0" y="0"/>
            <a:chExt cx="8229600" cy="730250"/>
          </a:xfrm>
        </p:grpSpPr>
        <p:sp>
          <p:nvSpPr>
            <p:cNvPr name="Freeform 26" id="26"/>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blipFill>
              <a:blip r:embed="rId7">
                <a:alphaModFix amt="0"/>
              </a:blip>
              <a:stretch>
                <a:fillRect l="0" t="-169587" r="0" b="-169587"/>
              </a:stretch>
            </a:blipFill>
          </p:spPr>
        </p:sp>
        <p:sp>
          <p:nvSpPr>
            <p:cNvPr name="TextBox 27" id="27"/>
            <p:cNvSpPr txBox="true"/>
            <p:nvPr/>
          </p:nvSpPr>
          <p:spPr>
            <a:xfrm>
              <a:off x="0" y="-19050"/>
              <a:ext cx="8229600" cy="749300"/>
            </a:xfrm>
            <a:prstGeom prst="rect">
              <a:avLst/>
            </a:prstGeom>
          </p:spPr>
          <p:txBody>
            <a:bodyPr anchor="ctr" rtlCol="false" tIns="0" lIns="0" bIns="0" rIns="0"/>
            <a:lstStyle/>
            <a:p>
              <a:pPr algn="ctr">
                <a:lnSpc>
                  <a:spcPts val="2160"/>
                </a:lnSpc>
              </a:pPr>
              <a:r>
                <a:rPr lang="en-US" sz="1800">
                  <a:solidFill>
                    <a:srgbClr val="898989"/>
                  </a:solidFill>
                  <a:latin typeface="Arial"/>
                  <a:ea typeface="Arial"/>
                  <a:cs typeface="Arial"/>
                  <a:sym typeface="Arial"/>
                </a:rPr>
                <a:t>Copyrights 2024 CE-UIT. All Rights Reserved.</a:t>
              </a:r>
            </a:p>
          </p:txBody>
        </p:sp>
      </p:grpSp>
      <p:grpSp>
        <p:nvGrpSpPr>
          <p:cNvPr name="Group 28" id="28"/>
          <p:cNvGrpSpPr/>
          <p:nvPr/>
        </p:nvGrpSpPr>
        <p:grpSpPr>
          <a:xfrm rot="0">
            <a:off x="15634421" y="9534525"/>
            <a:ext cx="4114800" cy="547688"/>
            <a:chOff x="0" y="0"/>
            <a:chExt cx="5486400" cy="730250"/>
          </a:xfrm>
        </p:grpSpPr>
        <p:sp>
          <p:nvSpPr>
            <p:cNvPr name="Freeform 29" id="29"/>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blipFill>
              <a:blip r:embed="rId7">
                <a:alphaModFix amt="0"/>
              </a:blip>
              <a:stretch>
                <a:fillRect l="0" t="-96391" r="0" b="-96391"/>
              </a:stretch>
            </a:blipFill>
          </p:spPr>
        </p:sp>
        <p:sp>
          <p:nvSpPr>
            <p:cNvPr name="TextBox 30" id="30"/>
            <p:cNvSpPr txBox="true"/>
            <p:nvPr/>
          </p:nvSpPr>
          <p:spPr>
            <a:xfrm>
              <a:off x="0" y="-19050"/>
              <a:ext cx="5486400" cy="749300"/>
            </a:xfrm>
            <a:prstGeom prst="rect">
              <a:avLst/>
            </a:prstGeom>
          </p:spPr>
          <p:txBody>
            <a:bodyPr anchor="ctr" rtlCol="false" tIns="0" lIns="0" bIns="0" rIns="0"/>
            <a:lstStyle/>
            <a:p>
              <a:pPr algn="ctr">
                <a:lnSpc>
                  <a:spcPts val="2160"/>
                </a:lnSpc>
              </a:pPr>
              <a:r>
                <a:rPr lang="en-US" sz="1800">
                  <a:solidFill>
                    <a:srgbClr val="FFFFFF"/>
                  </a:solidFill>
                  <a:latin typeface="Arial"/>
                  <a:ea typeface="Arial"/>
                  <a:cs typeface="Arial"/>
                  <a:sym typeface="Arial"/>
                </a:rPr>
                <a:t>15</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DAHNLagsl8E</dc:identifier>
  <dcterms:modified xsi:type="dcterms:W3CDTF">2011-08-01T06:04:30Z</dcterms:modified>
  <cp:revision>1</cp:revision>
  <dc:title>KTMT_DA_Mau bao cao bao ve.pptx</dc:title>
</cp:coreProperties>
</file>